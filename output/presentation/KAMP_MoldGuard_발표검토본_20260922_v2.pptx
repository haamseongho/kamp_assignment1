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86965a14f30497a" /><Relationship Type="http://schemas.openxmlformats.org/officeDocument/2006/relationships/extended-properties" Target="/docProps/app.xml" Id="Rdb98aee5fc2e4ece" /><Relationship Type="http://schemas.openxmlformats.org/officeDocument/2006/relationships/officeDocument" Target="/ppt/presentation.xml" Id="R83617f62437c464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af6f55a4b4b426b"/>
  </p:sldMasterIdLst>
  <p:notesMasterIdLst>
    <p:notesMasterId xmlns:r="http://schemas.openxmlformats.org/officeDocument/2006/relationships" r:id="Rf78ceb2ee93d41e2"/>
  </p:notesMasterIdLst>
  <p:sldIdLst>
    <p:sldId xmlns:r="http://schemas.openxmlformats.org/officeDocument/2006/relationships" id="256" r:id="Rf49359f7ac784b59"/>
    <p:sldId xmlns:r="http://schemas.openxmlformats.org/officeDocument/2006/relationships" id="257" r:id="R0e007477161246b3"/>
    <p:sldId xmlns:r="http://schemas.openxmlformats.org/officeDocument/2006/relationships" id="258" r:id="R844d8769dc514d6e"/>
    <p:sldId xmlns:r="http://schemas.openxmlformats.org/officeDocument/2006/relationships" id="259" r:id="Ra9ef7ec70e0d4375"/>
    <p:sldId xmlns:r="http://schemas.openxmlformats.org/officeDocument/2006/relationships" id="260" r:id="R3499abe26ce245f2"/>
    <p:sldId xmlns:r="http://schemas.openxmlformats.org/officeDocument/2006/relationships" id="261" r:id="Rfbbbfa6225fd46b7"/>
    <p:sldId xmlns:r="http://schemas.openxmlformats.org/officeDocument/2006/relationships" id="262" r:id="R0b92027e2f464a3c"/>
    <p:sldId xmlns:r="http://schemas.openxmlformats.org/officeDocument/2006/relationships" id="263" r:id="R1fb428e25ef443ac"/>
    <p:sldId xmlns:r="http://schemas.openxmlformats.org/officeDocument/2006/relationships" id="264" r:id="Rf6560585f7e84b26"/>
    <p:sldId xmlns:r="http://schemas.openxmlformats.org/officeDocument/2006/relationships" id="265" r:id="R9175272c6a4f4ba2"/>
    <p:sldId xmlns:r="http://schemas.openxmlformats.org/officeDocument/2006/relationships" id="266" r:id="R9b16c10593e34810"/>
    <p:sldId xmlns:r="http://schemas.openxmlformats.org/officeDocument/2006/relationships" id="267" r:id="Ra100796c166f439b"/>
    <p:sldId xmlns:r="http://schemas.openxmlformats.org/officeDocument/2006/relationships" id="268" r:id="R2b7d4728f8ff4cc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a1bc299e5ec4e8f" /><Relationship Type="http://schemas.openxmlformats.org/officeDocument/2006/relationships/slideMaster" Target="/ppt/slideMasters/slideMaster1.xml" Id="Raaf6f55a4b4b426b" /><Relationship Type="http://schemas.openxmlformats.org/officeDocument/2006/relationships/notesMaster" Target="/ppt/notesMasters/notesMaster1.xml" Id="Rf78ceb2ee93d41e2" /><Relationship Type="http://schemas.openxmlformats.org/officeDocument/2006/relationships/presProps" Target="/ppt/presProps.xml" Id="Rb9914972795642a1" /><Relationship Type="http://schemas.openxmlformats.org/officeDocument/2006/relationships/tableStyles" Target="/ppt/tableStyles.xml" Id="R142ff860bdfe49e9" /><Relationship Type="http://schemas.openxmlformats.org/officeDocument/2006/relationships/slide" Target="/ppt/slides/slide1.xml" Id="Rf49359f7ac784b59" /><Relationship Type="http://schemas.openxmlformats.org/officeDocument/2006/relationships/slide" Target="/ppt/slides/slide2.xml" Id="R0e007477161246b3" /><Relationship Type="http://schemas.openxmlformats.org/officeDocument/2006/relationships/slide" Target="/ppt/slides/slide3.xml" Id="R844d8769dc514d6e" /><Relationship Type="http://schemas.openxmlformats.org/officeDocument/2006/relationships/slide" Target="/ppt/slides/slide4.xml" Id="Ra9ef7ec70e0d4375" /><Relationship Type="http://schemas.openxmlformats.org/officeDocument/2006/relationships/slide" Target="/ppt/slides/slide5.xml" Id="R3499abe26ce245f2" /><Relationship Type="http://schemas.openxmlformats.org/officeDocument/2006/relationships/slide" Target="/ppt/slides/slide6.xml" Id="Rfbbbfa6225fd46b7" /><Relationship Type="http://schemas.openxmlformats.org/officeDocument/2006/relationships/slide" Target="/ppt/slides/slide7.xml" Id="R0b92027e2f464a3c" /><Relationship Type="http://schemas.openxmlformats.org/officeDocument/2006/relationships/slide" Target="/ppt/slides/slide8.xml" Id="R1fb428e25ef443ac" /><Relationship Type="http://schemas.openxmlformats.org/officeDocument/2006/relationships/slide" Target="/ppt/slides/slide9.xml" Id="Rf6560585f7e84b26" /><Relationship Type="http://schemas.openxmlformats.org/officeDocument/2006/relationships/slide" Target="/ppt/slides/slide10.xml" Id="R9175272c6a4f4ba2" /><Relationship Type="http://schemas.openxmlformats.org/officeDocument/2006/relationships/slide" Target="/ppt/slides/slide11.xml" Id="R9b16c10593e34810" /><Relationship Type="http://schemas.openxmlformats.org/officeDocument/2006/relationships/slide" Target="/ppt/slides/slide12.xml" Id="Ra100796c166f439b" /><Relationship Type="http://schemas.openxmlformats.org/officeDocument/2006/relationships/slide" Target="/ppt/slides/slide13.xml" Id="R2b7d4728f8ff4cc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eb3cd1444b44ab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c1e70a6b17f4a72" /><Relationship Type="http://schemas.openxmlformats.org/officeDocument/2006/relationships/notesMaster" Target="/ppt/notesMasters/notesMaster1.xml" Id="R7c8690c4b5bd450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c3a06a6b9984dfd" /><Relationship Type="http://schemas.openxmlformats.org/officeDocument/2006/relationships/notesMaster" Target="/ppt/notesMasters/notesMaster1.xml" Id="R8e524b4d2ab04e3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05000f7f88f4015" /><Relationship Type="http://schemas.openxmlformats.org/officeDocument/2006/relationships/notesMaster" Target="/ppt/notesMasters/notesMaster1.xml" Id="Rff08ad3b4b91444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7e80999d5894d1f" /><Relationship Type="http://schemas.openxmlformats.org/officeDocument/2006/relationships/notesMaster" Target="/ppt/notesMasters/notesMaster1.xml" Id="Rbb11a6e9a32d416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e9fd3af73f942b4" /><Relationship Type="http://schemas.openxmlformats.org/officeDocument/2006/relationships/notesMaster" Target="/ppt/notesMasters/notesMaster1.xml" Id="R5843cc035ec0472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4aec73a810244af" /><Relationship Type="http://schemas.openxmlformats.org/officeDocument/2006/relationships/notesMaster" Target="/ppt/notesMasters/notesMaster1.xml" Id="R18fa52a156d648a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1c938f8a4e746d3" /><Relationship Type="http://schemas.openxmlformats.org/officeDocument/2006/relationships/notesMaster" Target="/ppt/notesMasters/notesMaster1.xml" Id="R167d0c8103f14bb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a0c3c4d17574efb" /><Relationship Type="http://schemas.openxmlformats.org/officeDocument/2006/relationships/notesMaster" Target="/ppt/notesMasters/notesMaster1.xml" Id="R03d4c556619a404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48db224268d4ece" /><Relationship Type="http://schemas.openxmlformats.org/officeDocument/2006/relationships/notesMaster" Target="/ppt/notesMasters/notesMaster1.xml" Id="R190ab53754e9423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ea6ad3664ca434e" /><Relationship Type="http://schemas.openxmlformats.org/officeDocument/2006/relationships/notesMaster" Target="/ppt/notesMasters/notesMaster1.xml" Id="R4366dc06f6e24c3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6d9ad9616a8496e" /><Relationship Type="http://schemas.openxmlformats.org/officeDocument/2006/relationships/notesMaster" Target="/ppt/notesMasters/notesMaster1.xml" Id="R2668bccecf4f4f1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e0be030fc014916" /><Relationship Type="http://schemas.openxmlformats.org/officeDocument/2006/relationships/notesMaster" Target="/ppt/notesMasters/notesMaster1.xml" Id="R3880936b830e446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86d39e206c54c4d" /><Relationship Type="http://schemas.openxmlformats.org/officeDocument/2006/relationships/notesMaster" Target="/ppt/notesMasters/notesMaster1.xml" Id="R3e05f2d83ef34a3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공식 과제: 사출성형 공정데이터 기반 품질불량 사전예측 및 검사 우선순위 결정. 출처: 제6회 과제공개(일반국민,대학(원)생).hwpx. 이 발표는 실제 CSV의 연구 검토본이며 팀명·서명·설문·현장 승인 미완료다. 대회 사이트에 제출하지 않았다.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공식 과제공개 HWPX, data_audit.json의 feature_columns. Cycle_Time 등 샷 전체 요약이 있으므로 현재 구현을 제작 전 예측이나 실시간 조기경보로 해석할 수 없다. 실제 변수 도착 시각은 제공되지 않았다.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outputs/moldguard/data_audit.json. 라벨 1은 CN7 17, RG3 25로 합계 42. 동일 공정값은 1,197그룹이며 상충 라벨 36그룹이 있다. 파일마다 표준화된 것으로 보이나 원시 변환 이력이 없다.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outputs/local_runs/20260922-share-final/split_manifest.csv, experiment.json. seed=20260922. machine × 그룹 내 라벨 1 존재 여부로 층화. 원본 ID와 정답을 입력에서 제외. 전처리 전 원시 정규화의 적합 범위는 미확정.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experiment.json &gt; models_oof_development. 모든 후보는 동일한 개발 1,913행의 고정 그룹 OOF를 사용. Top 10%는 192행. Dummy 순위는 동점 처리의 영향을 받는다. 최종 모델은 홀드아웃을 보기 전 개발 AP로 선정한 가중 로지스틱. 비선형 후보의 우위는 입증되지 않았다.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experiment.json &gt; holdout, holdout_by_machine. AP 전체 0.2778919033520548, CN7 0.6392045454545454, RG3 0.019216004461128616. 편집 가능한 차트 워크북은 화면 표시와 동일한 소수 4자리 반올림 값을 저장한다. 완전 정밀도는 원본 JSON에 보존했다. 전체 Top 10%는 통합 순위 48행에서 3/9, 설비별 10% 합계는 49행에서 4/9. CN7 양성 표본 4행이므로 미래 100% 검출을 보장하지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holdout_diagnostics.csv, experiment.json의 confusion_at_diagnostic_threshold. threshold=0.5755568886112208를 개발 OOF의 F2로 결정. 전체 TP5 FN4 FP113 TN358. precision=5/118, recall=5/9, F1=10/127. 이 경보를 확정 불량 판정으로 취급하지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outputs/calibration-review-20260922/conditional_errors.csv. RG3 개발 OOF 946행. 첫 조건 Max_Injection_Pressure, 둘째 Max_Switch_Over_Pressure. 중앙값은 외부 학습 영역의 해당 설비, F2 임계값은 내부 OOF에서만 결정. 모든 구간 양성&lt;10. 표는 탐색적 결합조건 연관성이며 인과효과나 확정된 통계적 상호작용이 아니다.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calibration_review.json. 개발 전용 외부5/내부5 그룹 중첩 sigmoid ensemble=False. 기존 홀드아웃 미평가. 원점수 평균0.29683665, 보정0.01773358, 양성률0.01725039. 상수 대비 Brier 차이 95% 구간 [-0.0008958053, +0.0001665380]. 각 fold의 AP는 원점수/보정 동일하며 합산 OOF AP 차이는 fold별 척도 차이. Brier만으로 보정 품질을 확정하지 않음. https://scikit-learn.org/1.5/modules/calibration.html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unlabeled_priority.csv와 failure_analysis.json. RG3 전체35941, CN7OOD19607, CN7라벨미확정15632. OOD 표시 전체27357에는 RG3 7750이 포함. action 순서상 RG3는 미검증 설비로 먼저 처리. HIGH/REVIEW/STANDARD는 설비별상위10/다음10/나머지 정적 오프라인 순위이며 실제 Pass/Reject/Reinspect가 아니다.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docs/04_추가데이터_요청명세.md. 현재 구현은 정적 점수/순위 파일. 실시간 대기열 스케줄러나 실제 시간·비용 절감 효과를 구현·실증하지 않았다. 사용자 목표인 생산성과 작업환경 개선을 검증하려면 제품별 검사 가능 시각, 실제 시작종료, 인력장비, 현장 긴급규칙이 필요하다.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outputs/local_runs/20260922-share-final/run_manifest.json, calibration-review-verification.json, 로컬_실행_가이드.md. Python3.12.7 CPU, 잠금26패키지. 기본 pipeline 주요JSON/CSV5개 동일. 추가 연구7개 산출물동일 및18테스트37점검통과. PNG renderer차이는 별도기록. 테스트는 실제성능이나라벨의미를보증하지않는다.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docs/04_추가데이터_요청명세.md, docs/05_라벨_의미_검증.md, docs/07_확률보정_및_조건부_오류분석.md. 현장성능완성은미입증. 새기간평가영역을동결후모델보정정책선정에서제외. 기존홀드아웃재사용금지. 공식팀정보서명설문은사용자별도확인필요. 사이트제출하지않음.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812ea70ba6408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f96b6743d5e4c75" /><Relationship Type="http://schemas.openxmlformats.org/officeDocument/2006/relationships/slideLayout" Target="/ppt/slideLayouts/slideLayout1.xml" Id="R20f490c21ab9491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0f490c21ab9491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abb0ae563242b7" /><Relationship Type="http://schemas.openxmlformats.org/officeDocument/2006/relationships/notesSlide" Target="/ppt/notesSlides/notesSlide1.xml" Id="R5fde14fb6b08470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59b93b02c448bd" /><Relationship Type="http://schemas.openxmlformats.org/officeDocument/2006/relationships/notesSlide" Target="/ppt/notesSlides/notesSlide2.xml" Id="Rf0fb4571de014c7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3e189e19634acb" /><Relationship Type="http://schemas.openxmlformats.org/officeDocument/2006/relationships/notesSlide" Target="/ppt/notesSlides/notesSlide3.xml" Id="Rc55a68a9c5d5483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07533427f64b11" /><Relationship Type="http://schemas.openxmlformats.org/officeDocument/2006/relationships/notesSlide" Target="/ppt/notesSlides/notesSlide4.xml" Id="R3d55b4e6d04649b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067a94b28a4aa3" /><Relationship Type="http://schemas.openxmlformats.org/officeDocument/2006/relationships/notesSlide" Target="/ppt/notesSlides/notesSlide5.xml" Id="R5544fa98204b43b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0249f968f54b9b" /><Relationship Type="http://schemas.openxmlformats.org/officeDocument/2006/relationships/chart" Target="/ppt/slides/charts/chart1.xml" Id="R4a046dd5b1444da3" /><Relationship Type="http://schemas.openxmlformats.org/officeDocument/2006/relationships/notesSlide" Target="/ppt/notesSlides/notesSlide6.xml" Id="Rb95d1225c47e4f9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42f837877b46d3" /><Relationship Type="http://schemas.openxmlformats.org/officeDocument/2006/relationships/notesSlide" Target="/ppt/notesSlides/notesSlide7.xml" Id="Re9588defb53e4eb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c0bde418ad4f64" /><Relationship Type="http://schemas.openxmlformats.org/officeDocument/2006/relationships/notesSlide" Target="/ppt/notesSlides/notesSlide8.xml" Id="R28e0a802718947b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92abe3a2154978" /><Relationship Type="http://schemas.openxmlformats.org/officeDocument/2006/relationships/notesSlide" Target="/ppt/notesSlides/notesSlide9.xml" Id="R9e7b451bb4a7475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c4ab8ee91f4c6b" /><Relationship Type="http://schemas.openxmlformats.org/officeDocument/2006/relationships/notesSlide" Target="/ppt/notesSlides/notesSlide10.xml" Id="R9d596fb6389d458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06294853c942ab" /><Relationship Type="http://schemas.openxmlformats.org/officeDocument/2006/relationships/notesSlide" Target="/ppt/notesSlides/notesSlide11.xml" Id="R05f0afc14345401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0946af94384bb7" /><Relationship Type="http://schemas.openxmlformats.org/officeDocument/2006/relationships/notesSlide" Target="/ppt/notesSlides/notesSlide12.xml" Id="R5c4b04ef0095490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4d511c51c44956" /><Relationship Type="http://schemas.openxmlformats.org/officeDocument/2006/relationships/notesSlide" Target="/ppt/notesSlides/notesSlide13.xml" Id="R61d0600cf33d48e9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홀드아웃 AP</c:v>
          </c:tx>
          <c:spPr>
            <a:solidFill xmlns:a="http://schemas.openxmlformats.org/drawingml/2006/main">
              <a:srgbClr val="0D736D"/>
            </a:solidFill>
          </c:spPr>
          <c:cat>
            <c:strRef>
              <c:f>'Chart Data'!$A$2:$A$4</c:f>
              <c:strCache>
                <c:ptCount val="3"/>
                <c:pt idx="0">
                  <c:v>전체</c:v>
                </c:pt>
                <c:pt idx="1">
                  <c:v>CN7</c:v>
                </c:pt>
                <c:pt idx="2">
                  <c:v>RG3</c:v>
                </c:pt>
              </c:strCache>
            </c:strRef>
          </c:cat>
          <c:val>
            <c:numRef>
              <c:f>'Chart Data'!$B$2:$B$4</c:f>
              <c:numCache>
                <c:formatCode>0.0000</c:formatCode>
                <c:ptCount val="3"/>
                <c:pt idx="0">
                  <c:v>0.2779</c:v>
                </c:pt>
                <c:pt idx="1">
                  <c:v>0.6392</c:v>
                </c:pt>
                <c:pt idx="2">
                  <c:v>0.0192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17334A"/>
                  </a:solidFill>
                  <a:latin typeface="NanumGothic"/>
                  <a:ea typeface="NanumGothic"/>
                  <a:cs typeface="NanumGothi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7334A"/>
                </a:solidFill>
                <a:latin typeface="NanumGothic"/>
                <a:ea typeface="NanumGothic"/>
                <a:cs typeface="NanumGothic"/>
              </a:defRPr>
            </a:pPr>
          </a:p>
        </c:txPr>
        <c:crossAx val="48672768"/>
      </c:catAx>
      <c:valAx>
        <c:axId val="48672768"/>
        <c:scaling>
          <c:orientation val="minMax"/>
          <c:max val="0.8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4DFE5"/>
              </a:solidFill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06675"/>
                </a:solidFill>
                <a:latin typeface="NanumGothic"/>
                <a:ea typeface="NanumGothic"/>
                <a:cs typeface="NanumGothic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b9g4rq-75-64">
            <a:extLst xmlns:a="http://schemas.openxmlformats.org/drawingml/2006/main">
              <a:ext uri="{FF2B5EF4-FFF2-40B4-BE49-F238E27FC236}">
                <a16:creationId xmlns:a16="http://schemas.microsoft.com/office/drawing/2014/main" id="{5E090D02-409F-43EB-8CCD-769656C80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D736D"/>
                </a:solidFill>
                <a:latin typeface="NanumGothic"/>
                <a:ea typeface="NanumGothic"/>
                <a:cs typeface="NanumGothic"/>
              </a:defRPr>
            </a:pPr>
            <a:r>
              <a:rPr sz="2250" b="1">
                <a:solidFill>
                  <a:srgbClr val="0D736D"/>
                </a:solidFill>
                <a:latin typeface="NanumGothic"/>
                <a:ea typeface="NanumGothic"/>
                <a:cs typeface="NanumGothic"/>
              </a:rPr>
              <a:t>MoldGuard</a:t>
            </a:r>
          </a:p>
        </p:txBody>
      </p:sp>
      <p:sp>
        <p:nvSpPr>
          <p:cNvPr id="2" name="text-b9g4rq-186-64">
            <a:extLst xmlns:a="http://schemas.openxmlformats.org/drawingml/2006/main">
              <a:ext uri="{FF2B5EF4-FFF2-40B4-BE49-F238E27FC236}">
                <a16:creationId xmlns:a16="http://schemas.microsoft.com/office/drawing/2014/main" id="{FC8EC81D-9B34-46BA-A5DB-FB14FFB7A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106680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17334A"/>
                </a:solidFill>
                <a:latin typeface="NanumGothic"/>
                <a:ea typeface="NanumGothic"/>
                <a:cs typeface="NanumGothic"/>
              </a:defRPr>
            </a:pPr>
            <a:r>
              <a:rPr sz="4500" b="1">
                <a:solidFill>
                  <a:srgbClr val="17334A"/>
                </a:solidFill>
                <a:latin typeface="NanumGothic"/>
                <a:ea typeface="NanumGothic"/>
                <a:cs typeface="NanumGothic"/>
              </a:rPr>
              <a:t>사출성형 품질위험 예측</a:t>
            </a:r>
          </a:p>
          <a:p xmlns:a="http://schemas.openxmlformats.org/drawingml/2006/main">
            <a:pPr algn="l">
              <a:defRPr sz="4500" b="1">
                <a:solidFill>
                  <a:srgbClr val="17334A"/>
                </a:solidFill>
                <a:latin typeface="NanumGothic"/>
                <a:ea typeface="NanumGothic"/>
                <a:cs typeface="NanumGothic"/>
              </a:defRPr>
            </a:pPr>
            <a:r>
              <a:rPr sz="4500" b="1">
                <a:solidFill>
                  <a:srgbClr val="17334A"/>
                </a:solidFill>
                <a:latin typeface="NanumGothic"/>
                <a:ea typeface="NanumGothic"/>
                <a:cs typeface="NanumGothic"/>
              </a:rPr>
              <a:t>검사 우선순위 결정</a:t>
            </a:r>
          </a:p>
        </p:txBody>
      </p:sp>
      <p:sp>
        <p:nvSpPr>
          <p:cNvPr id="3" name="text-b9g4rq-402-64">
            <a:extLst xmlns:a="http://schemas.openxmlformats.org/drawingml/2006/main">
              <a:ext uri="{FF2B5EF4-FFF2-40B4-BE49-F238E27FC236}">
                <a16:creationId xmlns:a16="http://schemas.microsoft.com/office/drawing/2014/main" id="{7C84C57E-E950-404D-BE63-9BE4FCB61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06675"/>
                </a:solidFill>
                <a:latin typeface="NanumGothic"/>
                <a:ea typeface="NanumGothic"/>
                <a:cs typeface="NanumGothic"/>
              </a:defRPr>
            </a:pPr>
            <a:r>
              <a:rPr sz="2100" b="0">
                <a:solidFill>
                  <a:srgbClr val="506675"/>
                </a:solidFill>
                <a:latin typeface="NanumGothic"/>
                <a:ea typeface="NanumGothic"/>
                <a:cs typeface="NanumGothic"/>
              </a:rPr>
              <a:t>실제 공정데이터의 고정 그룹 검증과 실패 조건 분석</a:t>
            </a:r>
          </a:p>
        </p:txBody>
      </p:sp>
      <p:sp>
        <p:nvSpPr>
          <p:cNvPr id="4" name="text-b9g4rq-548-64">
            <a:extLst xmlns:a="http://schemas.openxmlformats.org/drawingml/2006/main">
              <a:ext uri="{FF2B5EF4-FFF2-40B4-BE49-F238E27FC236}">
                <a16:creationId xmlns:a16="http://schemas.microsoft.com/office/drawing/2014/main" id="{ED50AF89-B25B-49BE-A542-07D1EFA14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06675"/>
                </a:solidFill>
                <a:latin typeface="NanumGothic"/>
                <a:ea typeface="NanumGothic"/>
                <a:cs typeface="NanumGothic"/>
              </a:defRPr>
            </a:pPr>
            <a:r>
              <a:rPr sz="1800" b="0">
                <a:solidFill>
                  <a:srgbClr val="506675"/>
                </a:solidFill>
                <a:latin typeface="NanumGothic"/>
                <a:ea typeface="NanumGothic"/>
                <a:cs typeface="NanumGothic"/>
              </a:rPr>
              <a:t>2026-09-22 연구 검토본</a:t>
            </a:r>
          </a:p>
          <a:p xmlns:a="http://schemas.openxmlformats.org/drawingml/2006/main">
            <a:pPr algn="l">
              <a:defRPr sz="1800" b="0">
                <a:solidFill>
                  <a:srgbClr val="506675"/>
                </a:solidFill>
                <a:latin typeface="NanumGothic"/>
                <a:ea typeface="NanumGothic"/>
                <a:cs typeface="NanumGothic"/>
              </a:defRPr>
            </a:pPr>
            <a:r>
              <a:rPr sz="1800" b="0">
                <a:solidFill>
                  <a:srgbClr val="506675"/>
                </a:solidFill>
                <a:latin typeface="NanumGothic"/>
                <a:ea typeface="NanumGothic"/>
                <a:cs typeface="NanumGothic"/>
              </a:rPr>
              <a:t>제6회 K-인공지능 제조데이터 분석 경진대회</a:t>
            </a:r>
          </a:p>
        </p:txBody>
      </p:sp>
    </p:spTree>
    <p:extLst>
      <p:ext uri="{BB962C8B-B14F-4D97-AF65-F5344CB8AC3E}">
        <p14:creationId xmlns:p14="http://schemas.microsoft.com/office/powerpoint/2010/main" val="9440250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unyfiq-42-64">
            <a:extLst xmlns:a="http://schemas.openxmlformats.org/drawingml/2006/main">
              <a:ext uri="{FF2B5EF4-FFF2-40B4-BE49-F238E27FC236}">
                <a16:creationId xmlns:a16="http://schemas.microsoft.com/office/drawing/2014/main" id="{8314BCF8-F1AC-4DFF-A1A8-2AF9F5F1C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4A"/>
                </a:solidFill>
                <a:latin typeface="NanumGothic"/>
                <a:ea typeface="NanumGothic"/>
                <a:cs typeface="NanumGothic"/>
              </a:defRPr>
            </a:pPr>
            <a:r>
              <a:rPr sz="3300" b="1">
                <a:solidFill>
                  <a:srgbClr val="17334A"/>
                </a:solidFill>
                <a:latin typeface="NanumGothic"/>
                <a:ea typeface="NanumGothic"/>
                <a:cs typeface="NanumGothic"/>
              </a:rPr>
              <a:t>예측 시점은 공정 종료 후, 최종검사 전</a:t>
            </a:r>
          </a:p>
        </p:txBody>
      </p:sp>
      <p:sp>
        <p:nvSpPr>
          <p:cNvPr id="2" name="text-unyfiq-666-64">
            <a:extLst xmlns:a="http://schemas.openxmlformats.org/drawingml/2006/main">
              <a:ext uri="{FF2B5EF4-FFF2-40B4-BE49-F238E27FC236}">
                <a16:creationId xmlns:a16="http://schemas.microsoft.com/office/drawing/2014/main" id="{AE714EF9-E794-4996-80A3-FCEB2D3E7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06675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506675"/>
                </a:solidFill>
                <a:latin typeface="NanumGothic"/>
                <a:ea typeface="NanumGothic"/>
                <a:cs typeface="NanumGothic"/>
              </a:rPr>
              <a:t>숫자 라벨 1 기준. 라벨 의미와 현장 성능은 아직 미확정</a:t>
            </a:r>
          </a:p>
        </p:txBody>
      </p:sp>
      <p:sp>
        <p:nvSpPr>
          <p:cNvPr id="3" name="text-unyfiq-666-1170">
            <a:extLst xmlns:a="http://schemas.openxmlformats.org/drawingml/2006/main">
              <a:ext uri="{FF2B5EF4-FFF2-40B4-BE49-F238E27FC236}">
                <a16:creationId xmlns:a16="http://schemas.microsoft.com/office/drawing/2014/main" id="{C69A02A9-4852-4B07-8EDD-52B13871C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43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06675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50667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91840"/>
                <a:gridCol w="7680960"/>
              </a:tblGrid>
              <a:tr h="628650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시점</a:t>
                      </a:r>
                    </a:p>
                  </a:txBody>
                  <a:tcPr marL="91440" marR="91440" marT="45720" marB="45720" anchor="ctr">
                    <a:solidFill>
                      <a:srgbClr val="17334A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현재 입력으로 가능한 판단</a:t>
                      </a:r>
                    </a:p>
                  </a:txBody>
                  <a:tcPr marL="91440" marR="91440" marT="45720" marB="45720" anchor="ctr">
                    <a:solidFill>
                      <a:srgbClr val="17334A"/>
                    </a:solidFill>
                  </a:tcPr>
                </a:tc>
              </a:tr>
              <a:tr h="628650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34A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제작 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34A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설계·소재·설정값만의 별도 모델과 데이터가 필요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34A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공정 진행 중</a:t>
                      </a:r>
                    </a:p>
                  </a:txBody>
                  <a:tcPr marL="91440" marR="91440" marT="45720" marB="45720" anchor="ctr">
                    <a:solidFill>
                      <a:srgbClr val="F1F6F8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34A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시점별 센서와 도착 시각이 없어 현재 검증 불가</a:t>
                      </a:r>
                    </a:p>
                  </a:txBody>
                  <a:tcPr marL="91440" marR="91440" marT="45720" marB="45720" anchor="ctr">
                    <a:solidFill>
                      <a:srgbClr val="F1F6F8"/>
                    </a:solidFill>
                  </a:tcPr>
                </a:tc>
              </a:tr>
              <a:tr h="628650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34A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공정 종료 후, 검사 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34A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공정 요약값으로 위험 점수와 참고 순위 계산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unyfiq-486-64">
            <a:extLst xmlns:a="http://schemas.openxmlformats.org/drawingml/2006/main">
              <a:ext uri="{FF2B5EF4-FFF2-40B4-BE49-F238E27FC236}">
                <a16:creationId xmlns:a16="http://schemas.microsoft.com/office/drawing/2014/main" id="{C4A4F29D-5E2B-45DF-B1AC-A8CB1E3E3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D736D"/>
                </a:solidFill>
                <a:latin typeface="NanumGothic"/>
                <a:ea typeface="NanumGothic"/>
                <a:cs typeface="NanumGothic"/>
              </a:defRPr>
            </a:pPr>
            <a:r>
              <a:rPr sz="2025" b="1">
                <a:solidFill>
                  <a:srgbClr val="0D736D"/>
                </a:solidFill>
                <a:latin typeface="NanumGothic"/>
                <a:ea typeface="NanumGothic"/>
                <a:cs typeface="NanumGothic"/>
              </a:rPr>
              <a:t>현재 구현 범위</a:t>
            </a:r>
          </a:p>
        </p:txBody>
      </p:sp>
      <p:sp>
        <p:nvSpPr>
          <p:cNvPr id="6" name="text-unyfiq-535-64">
            <a:extLst xmlns:a="http://schemas.openxmlformats.org/drawingml/2006/main">
              <a:ext uri="{FF2B5EF4-FFF2-40B4-BE49-F238E27FC236}">
                <a16:creationId xmlns:a16="http://schemas.microsoft.com/office/drawing/2014/main" id="{E337B2C8-87CE-4722-B0E6-1A748DDA2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334A"/>
                </a:solidFill>
                <a:latin typeface="NanumGothic"/>
                <a:ea typeface="NanumGothic"/>
                <a:cs typeface="NanumGothic"/>
              </a:defRPr>
            </a:pPr>
            <a:r>
              <a:rPr sz="2025" b="0">
                <a:solidFill>
                  <a:srgbClr val="17334A"/>
                </a:solidFill>
                <a:latin typeface="NanumGothic"/>
                <a:ea typeface="NanumGothic"/>
                <a:cs typeface="NanumGothic"/>
              </a:rPr>
              <a:t>샷 종료 요약값 사용. 실제 검사 시작 전에 모든 변수가 도착하는지는 추가 확인 필요.</a:t>
            </a:r>
          </a:p>
        </p:txBody>
      </p:sp>
    </p:spTree>
    <p:extLst>
      <p:ext uri="{BB962C8B-B14F-4D97-AF65-F5344CB8AC3E}">
        <p14:creationId xmlns:p14="http://schemas.microsoft.com/office/powerpoint/2010/main" val="4142123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8o6erz-42-64">
            <a:extLst xmlns:a="http://schemas.openxmlformats.org/drawingml/2006/main">
              <a:ext uri="{FF2B5EF4-FFF2-40B4-BE49-F238E27FC236}">
                <a16:creationId xmlns:a16="http://schemas.microsoft.com/office/drawing/2014/main" id="{00DBFB17-3E6A-4B58-863C-8D78A0A39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4A"/>
                </a:solidFill>
                <a:latin typeface="NanumGothic"/>
                <a:ea typeface="NanumGothic"/>
                <a:cs typeface="NanumGothic"/>
              </a:defRPr>
            </a:pPr>
            <a:r>
              <a:rPr sz="3300" b="1">
                <a:solidFill>
                  <a:srgbClr val="17334A"/>
                </a:solidFill>
                <a:latin typeface="NanumGothic"/>
                <a:ea typeface="NanumGothic"/>
                <a:cs typeface="NanumGothic"/>
              </a:rPr>
              <a:t>라벨 2,393행, 비라벨 71,180행</a:t>
            </a:r>
          </a:p>
        </p:txBody>
      </p:sp>
      <p:sp>
        <p:nvSpPr>
          <p:cNvPr id="2" name="text-8o6erz-666-64">
            <a:extLst xmlns:a="http://schemas.openxmlformats.org/drawingml/2006/main">
              <a:ext uri="{FF2B5EF4-FFF2-40B4-BE49-F238E27FC236}">
                <a16:creationId xmlns:a16="http://schemas.microsoft.com/office/drawing/2014/main" id="{89E90D5D-96CD-41FF-9380-A1829C505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06675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506675"/>
                </a:solidFill>
                <a:latin typeface="NanumGothic"/>
                <a:ea typeface="NanumGothic"/>
                <a:cs typeface="NanumGothic"/>
              </a:rPr>
              <a:t>숫자 라벨 1 기준. 라벨 의미와 현장 성능은 아직 미확정</a:t>
            </a:r>
          </a:p>
        </p:txBody>
      </p:sp>
      <p:sp>
        <p:nvSpPr>
          <p:cNvPr id="3" name="text-8o6erz-666-1170">
            <a:extLst xmlns:a="http://schemas.openxmlformats.org/drawingml/2006/main">
              <a:ext uri="{FF2B5EF4-FFF2-40B4-BE49-F238E27FC236}">
                <a16:creationId xmlns:a16="http://schemas.microsoft.com/office/drawing/2014/main" id="{B2408163-DD21-473F-85A2-7D0917D3C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43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06675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50667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2714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86400"/>
                <a:gridCol w="2743200"/>
                <a:gridCol w="2743200"/>
              </a:tblGrid>
              <a:tr h="542925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입력</a:t>
                      </a:r>
                    </a:p>
                  </a:txBody>
                  <a:tcPr marL="91440" marR="91440" marT="45720" marB="45720" anchor="ctr">
                    <a:solidFill>
                      <a:srgbClr val="17334A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행 수</a:t>
                      </a:r>
                    </a:p>
                  </a:txBody>
                  <a:tcPr marL="91440" marR="91440" marT="45720" marB="45720" anchor="ctr">
                    <a:solidFill>
                      <a:srgbClr val="17334A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라벨 1</a:t>
                      </a:r>
                    </a:p>
                  </a:txBody>
                  <a:tcPr marL="91440" marR="91440" marT="45720" marB="45720" anchor="ctr">
                    <a:solidFill>
                      <a:srgbClr val="17334A"/>
                    </a:solidFill>
                  </a:tcPr>
                </a:tc>
              </a:tr>
              <a:tr h="542925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34A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CN7 라벨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34A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1,211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34A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17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34A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RG3 라벨</a:t>
                      </a:r>
                    </a:p>
                  </a:txBody>
                  <a:tcPr marL="91440" marR="91440" marT="45720" marB="45720" anchor="ctr">
                    <a:solidFill>
                      <a:srgbClr val="F1F6F8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34A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1,182</a:t>
                      </a:r>
                    </a:p>
                  </a:txBody>
                  <a:tcPr marL="91440" marR="91440" marT="45720" marB="45720" anchor="ctr">
                    <a:solidFill>
                      <a:srgbClr val="F1F6F8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34A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25</a:t>
                      </a:r>
                    </a:p>
                  </a:txBody>
                  <a:tcPr marL="91440" marR="91440" marT="45720" marB="45720" anchor="ctr">
                    <a:solidFill>
                      <a:srgbClr val="F1F6F8"/>
                    </a:solidFill>
                  </a:tcPr>
                </a:tc>
              </a:tr>
              <a:tr h="542925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34A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CN7 비라벨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34A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35,239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34A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정답 없음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34A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RG3 비라벨</a:t>
                      </a:r>
                    </a:p>
                  </a:txBody>
                  <a:tcPr marL="91440" marR="91440" marT="45720" marB="45720" anchor="ctr">
                    <a:solidFill>
                      <a:srgbClr val="F1F6F8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34A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35,941</a:t>
                      </a:r>
                    </a:p>
                  </a:txBody>
                  <a:tcPr marL="91440" marR="91440" marT="45720" marB="45720" anchor="ctr">
                    <a:solidFill>
                      <a:srgbClr val="F1F6F8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34A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정답 없음</a:t>
                      </a:r>
                    </a:p>
                  </a:txBody>
                  <a:tcPr marL="91440" marR="91440" marT="45720" marB="45720" anchor="ctr">
                    <a:solidFill>
                      <a:srgbClr val="F1F6F8"/>
                    </a:solidFill>
                  </a:tcPr>
                </a:tc>
              </a:tr>
            </a:tbl>
          </a:graphicData>
        </a:graphic>
      </p:graphicFrame>
      <p:sp>
        <p:nvSpPr>
          <p:cNvPr id="5" name="text-8o6erz-498-64">
            <a:extLst xmlns:a="http://schemas.openxmlformats.org/drawingml/2006/main">
              <a:ext uri="{FF2B5EF4-FFF2-40B4-BE49-F238E27FC236}">
                <a16:creationId xmlns:a16="http://schemas.microsoft.com/office/drawing/2014/main" id="{B4036FF0-00FD-4097-9CED-F6CB5DDCF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434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D736D"/>
                </a:solidFill>
                <a:latin typeface="NanumGothic"/>
                <a:ea typeface="NanumGothic"/>
                <a:cs typeface="NanumGothic"/>
              </a:defRPr>
            </a:pPr>
            <a:r>
              <a:rPr sz="2175" b="1">
                <a:solidFill>
                  <a:srgbClr val="0D736D"/>
                </a:solidFill>
                <a:latin typeface="NanumGothic"/>
                <a:ea typeface="NanumGothic"/>
                <a:cs typeface="NanumGothic"/>
              </a:rPr>
              <a:t>같은 공정값인데 0과 1이 함께 있는 그룹 36개</a:t>
            </a:r>
          </a:p>
        </p:txBody>
      </p:sp>
      <p:sp>
        <p:nvSpPr>
          <p:cNvPr id="6" name="text-8o6erz-561-64">
            <a:extLst xmlns:a="http://schemas.openxmlformats.org/drawingml/2006/main">
              <a:ext uri="{FF2B5EF4-FFF2-40B4-BE49-F238E27FC236}">
                <a16:creationId xmlns:a16="http://schemas.microsoft.com/office/drawing/2014/main" id="{9BC425FA-1FE4-48F1-A2B1-52FBF5A57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4352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4A"/>
                </a:solidFill>
                <a:latin typeface="NanumGothic"/>
                <a:ea typeface="NanumGothic"/>
                <a:cs typeface="NanumGothic"/>
              </a:defRPr>
            </a:pPr>
            <a:r>
              <a:rPr sz="1950" b="0">
                <a:solidFill>
                  <a:srgbClr val="17334A"/>
                </a:solidFill>
                <a:latin typeface="NanumGothic"/>
                <a:ea typeface="NanumGothic"/>
                <a:cs typeface="NanumGothic"/>
              </a:rPr>
              <a:t>생산 단위와 라벨 정의, 실제 시각, 원본 정규화 범위를 확인해야 함</a:t>
            </a:r>
          </a:p>
        </p:txBody>
      </p:sp>
    </p:spTree>
    <p:extLst>
      <p:ext uri="{BB962C8B-B14F-4D97-AF65-F5344CB8AC3E}">
        <p14:creationId xmlns:p14="http://schemas.microsoft.com/office/powerpoint/2010/main" val="4925732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mp05h2-42-64">
            <a:extLst xmlns:a="http://schemas.openxmlformats.org/drawingml/2006/main">
              <a:ext uri="{FF2B5EF4-FFF2-40B4-BE49-F238E27FC236}">
                <a16:creationId xmlns:a16="http://schemas.microsoft.com/office/drawing/2014/main" id="{DCEF18A0-0B07-400C-A249-F0A30CCF0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4A"/>
                </a:solidFill>
                <a:latin typeface="NanumGothic"/>
                <a:ea typeface="NanumGothic"/>
                <a:cs typeface="NanumGothic"/>
              </a:defRPr>
            </a:pPr>
            <a:r>
              <a:rPr sz="3300" b="1">
                <a:solidFill>
                  <a:srgbClr val="17334A"/>
                </a:solidFill>
                <a:latin typeface="NanumGothic"/>
                <a:ea typeface="NanumGothic"/>
                <a:cs typeface="NanumGothic"/>
              </a:rPr>
              <a:t>동일 공정값 그룹을 분리하지 않은 고정 검증</a:t>
            </a:r>
          </a:p>
        </p:txBody>
      </p:sp>
      <p:sp>
        <p:nvSpPr>
          <p:cNvPr id="2" name="text-mp05h2-666-64">
            <a:extLst xmlns:a="http://schemas.openxmlformats.org/drawingml/2006/main">
              <a:ext uri="{FF2B5EF4-FFF2-40B4-BE49-F238E27FC236}">
                <a16:creationId xmlns:a16="http://schemas.microsoft.com/office/drawing/2014/main" id="{8BEB32A1-603B-460E-8CE7-39C7750A0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06675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506675"/>
                </a:solidFill>
                <a:latin typeface="NanumGothic"/>
                <a:ea typeface="NanumGothic"/>
                <a:cs typeface="NanumGothic"/>
              </a:rPr>
              <a:t>숫자 라벨 1 기준. 라벨 의미와 현장 성능은 아직 미확정</a:t>
            </a:r>
          </a:p>
        </p:txBody>
      </p:sp>
      <p:sp>
        <p:nvSpPr>
          <p:cNvPr id="3" name="text-mp05h2-666-1170">
            <a:extLst xmlns:a="http://schemas.openxmlformats.org/drawingml/2006/main">
              <a:ext uri="{FF2B5EF4-FFF2-40B4-BE49-F238E27FC236}">
                <a16:creationId xmlns:a16="http://schemas.microsoft.com/office/drawing/2014/main" id="{E6D7E15A-134D-4852-999E-0BCA51DF4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43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06675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506675"/>
                </a:solidFill>
                <a:latin typeface="NanumGothic"/>
                <a:ea typeface="NanumGothic"/>
                <a:cs typeface="NanumGothic"/>
              </a:rPr>
              <a:t>04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2000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65376"/>
                <a:gridCol w="1426464"/>
                <a:gridCol w="1536192"/>
                <a:gridCol w="1536192"/>
                <a:gridCol w="4608576"/>
              </a:tblGrid>
              <a:tr h="666750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영역</a:t>
                      </a:r>
                    </a:p>
                  </a:txBody>
                  <a:tcPr marL="91440" marR="91440" marT="45720" marB="45720" anchor="ctr">
                    <a:solidFill>
                      <a:srgbClr val="17334A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그룹</a:t>
                      </a:r>
                    </a:p>
                  </a:txBody>
                  <a:tcPr marL="91440" marR="91440" marT="45720" marB="45720" anchor="ctr">
                    <a:solidFill>
                      <a:srgbClr val="17334A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행</a:t>
                      </a:r>
                    </a:p>
                  </a:txBody>
                  <a:tcPr marL="91440" marR="91440" marT="45720" marB="45720" anchor="ctr">
                    <a:solidFill>
                      <a:srgbClr val="17334A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라벨 1</a:t>
                      </a:r>
                    </a:p>
                  </a:txBody>
                  <a:tcPr marL="91440" marR="91440" marT="45720" marB="45720" anchor="ctr">
                    <a:solidFill>
                      <a:srgbClr val="17334A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역할</a:t>
                      </a:r>
                    </a:p>
                  </a:txBody>
                  <a:tcPr marL="91440" marR="91440" marT="45720" marB="45720" anchor="ctr">
                    <a:solidFill>
                      <a:srgbClr val="17334A"/>
                    </a:solidFill>
                  </a:tcPr>
                </a:tc>
              </a:tr>
              <a:tr h="666750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34A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개발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34A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957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34A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1,913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34A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33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34A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그룹 5-fold OOF로 선정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34A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홀드아웃</a:t>
                      </a:r>
                    </a:p>
                  </a:txBody>
                  <a:tcPr marL="91440" marR="91440" marT="45720" marB="45720" anchor="ctr">
                    <a:solidFill>
                      <a:srgbClr val="F1F6F8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34A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240</a:t>
                      </a:r>
                    </a:p>
                  </a:txBody>
                  <a:tcPr marL="91440" marR="91440" marT="45720" marB="45720" anchor="ctr">
                    <a:solidFill>
                      <a:srgbClr val="F1F6F8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34A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480</a:t>
                      </a:r>
                    </a:p>
                  </a:txBody>
                  <a:tcPr marL="91440" marR="91440" marT="45720" marB="45720" anchor="ctr">
                    <a:solidFill>
                      <a:srgbClr val="F1F6F8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34A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9</a:t>
                      </a:r>
                    </a:p>
                  </a:txBody>
                  <a:tcPr marL="91440" marR="91440" marT="45720" marB="45720" anchor="ctr">
                    <a:solidFill>
                      <a:srgbClr val="F1F6F8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34A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선정 뒤 최초 성능 평가</a:t>
                      </a:r>
                    </a:p>
                  </a:txBody>
                  <a:tcPr marL="91440" marR="91440" marT="45720" marB="45720" anchor="ctr">
                    <a:solidFill>
                      <a:srgbClr val="F1F6F8"/>
                    </a:solidFill>
                  </a:tcPr>
                </a:tc>
              </a:tr>
            </a:tbl>
          </a:graphicData>
        </a:graphic>
      </p:graphicFrame>
      <p:sp>
        <p:nvSpPr>
          <p:cNvPr id="5" name="text-mp05h2-428-64">
            <a:extLst xmlns:a="http://schemas.openxmlformats.org/drawingml/2006/main">
              <a:ext uri="{FF2B5EF4-FFF2-40B4-BE49-F238E27FC236}">
                <a16:creationId xmlns:a16="http://schemas.microsoft.com/office/drawing/2014/main" id="{4D89AA15-7BC0-455C-8C26-35DAD64A0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D736D"/>
                </a:solidFill>
                <a:latin typeface="NanumGothic"/>
                <a:ea typeface="NanumGothic"/>
                <a:cs typeface="NanumGothic"/>
              </a:defRPr>
            </a:pPr>
            <a:r>
              <a:rPr sz="2325" b="1">
                <a:solidFill>
                  <a:srgbClr val="0D736D"/>
                </a:solidFill>
                <a:latin typeface="NanumGothic"/>
                <a:ea typeface="NanumGothic"/>
                <a:cs typeface="NanumGothic"/>
              </a:rPr>
              <a:t>분할 간 동일 입력 그룹 교차 0</a:t>
            </a:r>
          </a:p>
        </p:txBody>
      </p:sp>
      <p:sp>
        <p:nvSpPr>
          <p:cNvPr id="6" name="text-mp05h2-505-64">
            <a:extLst xmlns:a="http://schemas.openxmlformats.org/drawingml/2006/main">
              <a:ext uri="{FF2B5EF4-FFF2-40B4-BE49-F238E27FC236}">
                <a16:creationId xmlns:a16="http://schemas.microsoft.com/office/drawing/2014/main" id="{A2F1342A-9E38-4675-9D80-BFA020AC1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858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334A"/>
                </a:solidFill>
                <a:latin typeface="NanumGothic"/>
                <a:ea typeface="NanumGothic"/>
                <a:cs typeface="NanumGothic"/>
              </a:defRPr>
            </a:pPr>
            <a:r>
              <a:rPr sz="2025" b="0">
                <a:solidFill>
                  <a:srgbClr val="17334A"/>
                </a:solidFill>
                <a:latin typeface="NanumGothic"/>
                <a:ea typeface="NanumGothic"/>
                <a:cs typeface="NanumGothic"/>
              </a:rPr>
              <a:t>실제 시간·샷 키와 사전 정규화 범위가 없어 모든 누수를 차단했다고 보증할 수 없음</a:t>
            </a:r>
          </a:p>
        </p:txBody>
      </p:sp>
      <p:sp>
        <p:nvSpPr>
          <p:cNvPr id="7" name="text-mp05h2-596-64">
            <a:extLst xmlns:a="http://schemas.openxmlformats.org/drawingml/2006/main">
              <a:ext uri="{FF2B5EF4-FFF2-40B4-BE49-F238E27FC236}">
                <a16:creationId xmlns:a16="http://schemas.microsoft.com/office/drawing/2014/main" id="{C074BF4D-598F-4275-BC59-469D59316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06675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506675"/>
                </a:solidFill>
                <a:latin typeface="NanumGothic"/>
                <a:ea typeface="NanumGothic"/>
                <a:cs typeface="NanumGothic"/>
              </a:rPr>
              <a:t>최초 평가 뒤 탐색에 노출된 홀드아웃. 새 모델은 새로운 독립 평가가 필요.</a:t>
            </a:r>
          </a:p>
        </p:txBody>
      </p:sp>
    </p:spTree>
    <p:extLst>
      <p:ext uri="{BB962C8B-B14F-4D97-AF65-F5344CB8AC3E}">
        <p14:creationId xmlns:p14="http://schemas.microsoft.com/office/powerpoint/2010/main" val="89856750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x6q8ta-42-64">
            <a:extLst xmlns:a="http://schemas.openxmlformats.org/drawingml/2006/main">
              <a:ext uri="{FF2B5EF4-FFF2-40B4-BE49-F238E27FC236}">
                <a16:creationId xmlns:a16="http://schemas.microsoft.com/office/drawing/2014/main" id="{B6E3DC1A-394B-414C-979A-48B57A580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4A"/>
                </a:solidFill>
                <a:latin typeface="NanumGothic"/>
                <a:ea typeface="NanumGothic"/>
                <a:cs typeface="NanumGothic"/>
              </a:defRPr>
            </a:pPr>
            <a:r>
              <a:rPr sz="3300" b="1">
                <a:solidFill>
                  <a:srgbClr val="17334A"/>
                </a:solidFill>
                <a:latin typeface="NanumGothic"/>
                <a:ea typeface="NanumGothic"/>
                <a:cs typeface="NanumGothic"/>
              </a:rPr>
              <a:t>7개 후보 중 개발 AP가 가장 높은 모델을 선정</a:t>
            </a:r>
          </a:p>
        </p:txBody>
      </p:sp>
      <p:sp>
        <p:nvSpPr>
          <p:cNvPr id="2" name="text-x6q8ta-666-64">
            <a:extLst xmlns:a="http://schemas.openxmlformats.org/drawingml/2006/main">
              <a:ext uri="{FF2B5EF4-FFF2-40B4-BE49-F238E27FC236}">
                <a16:creationId xmlns:a16="http://schemas.microsoft.com/office/drawing/2014/main" id="{87301612-94B4-4DEB-8A00-87592AC93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06675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506675"/>
                </a:solidFill>
                <a:latin typeface="NanumGothic"/>
                <a:ea typeface="NanumGothic"/>
                <a:cs typeface="NanumGothic"/>
              </a:rPr>
              <a:t>숫자 라벨 1 기준. 라벨 의미와 현장 성능은 아직 미확정</a:t>
            </a:r>
          </a:p>
        </p:txBody>
      </p:sp>
      <p:sp>
        <p:nvSpPr>
          <p:cNvPr id="3" name="text-x6q8ta-666-1170">
            <a:extLst xmlns:a="http://schemas.openxmlformats.org/drawingml/2006/main">
              <a:ext uri="{FF2B5EF4-FFF2-40B4-BE49-F238E27FC236}">
                <a16:creationId xmlns:a16="http://schemas.microsoft.com/office/drawing/2014/main" id="{D76812DD-140E-444E-9097-93EA9E6D9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43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06675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506675"/>
                </a:solidFill>
                <a:latin typeface="NanumGothic"/>
                <a:ea typeface="NanumGothic"/>
                <a:cs typeface="NanumGothic"/>
              </a:rPr>
              <a:t>05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495425"/>
          <a:ext xmlns:a="http://schemas.openxmlformats.org/drawingml/2006/main" cx="10972800" cy="3733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937760"/>
                <a:gridCol w="1865376"/>
                <a:gridCol w="2414016"/>
                <a:gridCol w="1755648"/>
              </a:tblGrid>
              <a:tr h="466725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모델</a:t>
                      </a:r>
                    </a:p>
                  </a:txBody>
                  <a:tcPr marL="91440" marR="91440" marT="45720" marB="45720" anchor="ctr">
                    <a:solidFill>
                      <a:srgbClr val="17334A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개발 AP</a:t>
                      </a:r>
                    </a:p>
                  </a:txBody>
                  <a:tcPr marL="91440" marR="91440" marT="45720" marB="45720" anchor="ctr">
                    <a:solidFill>
                      <a:srgbClr val="17334A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Top 10% 발견</a:t>
                      </a:r>
                    </a:p>
                  </a:txBody>
                  <a:tcPr marL="91440" marR="91440" marT="45720" marB="45720" anchor="ctr">
                    <a:solidFill>
                      <a:srgbClr val="17334A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ROC-AUC</a:t>
                      </a:r>
                    </a:p>
                  </a:txBody>
                  <a:tcPr marL="91440" marR="91440" marT="45720" marB="45720" anchor="ctr">
                    <a:solidFill>
                      <a:srgbClr val="17334A"/>
                    </a:solidFill>
                  </a:tcPr>
                </a:tc>
              </a:tr>
              <a:tr h="466725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34A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B0 발생률 기준선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34A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0.0166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34A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2/33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34A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0.4818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34A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B1 가중 로지스틱 (선정)</a:t>
                      </a:r>
                    </a:p>
                  </a:txBody>
                  <a:tcPr marL="91440" marR="91440" marT="45720" marB="45720" anchor="ctr">
                    <a:solidFill>
                      <a:srgbClr val="F1F6F8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34A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0.1154</a:t>
                      </a:r>
                    </a:p>
                  </a:txBody>
                  <a:tcPr marL="91440" marR="91440" marT="45720" marB="45720" anchor="ctr">
                    <a:solidFill>
                      <a:srgbClr val="F1F6F8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34A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9/33</a:t>
                      </a:r>
                    </a:p>
                  </a:txBody>
                  <a:tcPr marL="91440" marR="91440" marT="45720" marB="45720" anchor="ctr">
                    <a:solidFill>
                      <a:srgbClr val="F1F6F8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34A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0.7584</a:t>
                      </a:r>
                    </a:p>
                  </a:txBody>
                  <a:tcPr marL="91440" marR="91440" marT="45720" marB="45720" anchor="ctr">
                    <a:solidFill>
                      <a:srgbClr val="F1F6F8"/>
                    </a:solidFill>
                  </a:tcPr>
                </a:tc>
              </a:tr>
              <a:tr h="466725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34A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B2 Random Forest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34A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0.0646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34A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13/33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34A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0.7700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34A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B3 CatBoost</a:t>
                      </a:r>
                    </a:p>
                  </a:txBody>
                  <a:tcPr marL="91440" marR="91440" marT="45720" marB="45720" anchor="ctr">
                    <a:solidFill>
                      <a:srgbClr val="F1F6F8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34A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0.0546</a:t>
                      </a:r>
                    </a:p>
                  </a:txBody>
                  <a:tcPr marL="91440" marR="91440" marT="45720" marB="45720" anchor="ctr">
                    <a:solidFill>
                      <a:srgbClr val="F1F6F8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34A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9/33</a:t>
                      </a:r>
                    </a:p>
                  </a:txBody>
                  <a:tcPr marL="91440" marR="91440" marT="45720" marB="45720" anchor="ctr">
                    <a:solidFill>
                      <a:srgbClr val="F1F6F8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34A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0.7241</a:t>
                      </a:r>
                    </a:p>
                  </a:txBody>
                  <a:tcPr marL="91440" marR="91440" marT="45720" marB="45720" anchor="ctr">
                    <a:solidFill>
                      <a:srgbClr val="F1F6F8"/>
                    </a:solidFill>
                  </a:tcPr>
                </a:tc>
              </a:tr>
              <a:tr h="466725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34A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B4 설비별 로지스틱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34A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0.0803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34A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13/33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34A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0.7830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34A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B5 설비별 Forest</a:t>
                      </a:r>
                    </a:p>
                  </a:txBody>
                  <a:tcPr marL="91440" marR="91440" marT="45720" marB="45720" anchor="ctr">
                    <a:solidFill>
                      <a:srgbClr val="F1F6F8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34A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0.0749</a:t>
                      </a:r>
                    </a:p>
                  </a:txBody>
                  <a:tcPr marL="91440" marR="91440" marT="45720" marB="45720" anchor="ctr">
                    <a:solidFill>
                      <a:srgbClr val="F1F6F8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34A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10/33</a:t>
                      </a:r>
                    </a:p>
                  </a:txBody>
                  <a:tcPr marL="91440" marR="91440" marT="45720" marB="45720" anchor="ctr">
                    <a:solidFill>
                      <a:srgbClr val="F1F6F8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34A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0.7579</a:t>
                      </a:r>
                    </a:p>
                  </a:txBody>
                  <a:tcPr marL="91440" marR="91440" marT="45720" marB="45720" anchor="ctr">
                    <a:solidFill>
                      <a:srgbClr val="F1F6F8"/>
                    </a:solidFill>
                  </a:tcPr>
                </a:tc>
              </a:tr>
              <a:tr h="466725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34A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B6 설비별 CatBoost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34A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0.0983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34A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14/33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34A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0.7822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x6q8ta-574-64">
            <a:extLst xmlns:a="http://schemas.openxmlformats.org/drawingml/2006/main">
              <a:ext uri="{FF2B5EF4-FFF2-40B4-BE49-F238E27FC236}">
                <a16:creationId xmlns:a16="http://schemas.microsoft.com/office/drawing/2014/main" id="{80B05438-260A-4BDE-B020-B5A348150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4A"/>
                </a:solidFill>
                <a:latin typeface="NanumGothic"/>
                <a:ea typeface="NanumGothic"/>
                <a:cs typeface="NanumGothic"/>
              </a:defRPr>
            </a:pPr>
            <a:r>
              <a:rPr sz="1950" b="0">
                <a:solidFill>
                  <a:srgbClr val="17334A"/>
                </a:solidFill>
                <a:latin typeface="NanumGothic"/>
                <a:ea typeface="NanumGothic"/>
                <a:cs typeface="NanumGothic"/>
              </a:rPr>
              <a:t>설비별 CatBoost의 발견 수는 더 높지만, 선정 기준 AP는 더 낮음</a:t>
            </a:r>
          </a:p>
        </p:txBody>
      </p:sp>
    </p:spTree>
    <p:extLst>
      <p:ext uri="{BB962C8B-B14F-4D97-AF65-F5344CB8AC3E}">
        <p14:creationId xmlns:p14="http://schemas.microsoft.com/office/powerpoint/2010/main" val="10647816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cwj77p-42-64">
            <a:extLst xmlns:a="http://schemas.openxmlformats.org/drawingml/2006/main">
              <a:ext uri="{FF2B5EF4-FFF2-40B4-BE49-F238E27FC236}">
                <a16:creationId xmlns:a16="http://schemas.microsoft.com/office/drawing/2014/main" id="{EAF4C4A6-89CC-4A29-B361-B49F32914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4A"/>
                </a:solidFill>
                <a:latin typeface="NanumGothic"/>
                <a:ea typeface="NanumGothic"/>
                <a:cs typeface="NanumGothic"/>
              </a:defRPr>
            </a:pPr>
            <a:r>
              <a:rPr sz="3300" b="1">
                <a:solidFill>
                  <a:srgbClr val="17334A"/>
                </a:solidFill>
                <a:latin typeface="NanumGothic"/>
                <a:ea typeface="NanumGothic"/>
                <a:cs typeface="NanumGothic"/>
              </a:rPr>
              <a:t>전체 AP는 RG3의 낮은 성능을 가린다</a:t>
            </a:r>
          </a:p>
        </p:txBody>
      </p:sp>
      <p:sp>
        <p:nvSpPr>
          <p:cNvPr id="2" name="text-cwj77p-666-64">
            <a:extLst xmlns:a="http://schemas.openxmlformats.org/drawingml/2006/main">
              <a:ext uri="{FF2B5EF4-FFF2-40B4-BE49-F238E27FC236}">
                <a16:creationId xmlns:a16="http://schemas.microsoft.com/office/drawing/2014/main" id="{B368D119-CA53-471D-920D-A57A318A8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06675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506675"/>
                </a:solidFill>
                <a:latin typeface="NanumGothic"/>
                <a:ea typeface="NanumGothic"/>
                <a:cs typeface="NanumGothic"/>
              </a:rPr>
              <a:t>숫자 라벨 1 기준. 라벨 의미와 현장 성능은 아직 미확정</a:t>
            </a:r>
          </a:p>
        </p:txBody>
      </p:sp>
      <p:sp>
        <p:nvSpPr>
          <p:cNvPr id="3" name="text-cwj77p-666-1170">
            <a:extLst xmlns:a="http://schemas.openxmlformats.org/drawingml/2006/main">
              <a:ext uri="{FF2B5EF4-FFF2-40B4-BE49-F238E27FC236}">
                <a16:creationId xmlns:a16="http://schemas.microsoft.com/office/drawing/2014/main" id="{E5ED5166-E67A-46E6-A0CE-41441DB22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43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06675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506675"/>
                </a:solidFill>
                <a:latin typeface="NanumGothic"/>
                <a:ea typeface="NanumGothic"/>
                <a:cs typeface="NanumGothic"/>
              </a:rPr>
              <a:t>06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609600" y="1600200"/>
          <a:ext xmlns:a="http://schemas.openxmlformats.org/drawingml/2006/main" cx="6667500" cy="3524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a046dd5b1444da3"/>
          </a:graphicData>
        </a:graphic>
      </p:graphicFrame>
      <p:graphicFrame>
        <p:nvGraphicFramePr>
          <p:cNvPr id="11" name=""/>
          <p:cNvGraphicFramePr/>
          <p:nvPr/>
        </p:nvGraphicFramePr>
        <p:xfrm>
          <a:off xmlns:a="http://schemas.openxmlformats.org/drawingml/2006/main" x="7715250" y="2000250"/>
          <a:ext xmlns:a="http://schemas.openxmlformats.org/drawingml/2006/main" cx="3867150" cy="2381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28116"/>
                <a:gridCol w="1546860"/>
                <a:gridCol w="1392174"/>
              </a:tblGrid>
              <a:tr h="595313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대상</a:t>
                      </a:r>
                    </a:p>
                  </a:txBody>
                  <a:tcPr marL="91440" marR="91440" marT="45720" marB="45720" anchor="ctr">
                    <a:solidFill>
                      <a:srgbClr val="17334A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행 / 양성</a:t>
                      </a:r>
                    </a:p>
                  </a:txBody>
                  <a:tcPr marL="91440" marR="91440" marT="45720" marB="45720" anchor="ctr">
                    <a:solidFill>
                      <a:srgbClr val="17334A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Top 10%</a:t>
                      </a:r>
                    </a:p>
                  </a:txBody>
                  <a:tcPr marL="91440" marR="91440" marT="45720" marB="45720" anchor="ctr">
                    <a:solidFill>
                      <a:srgbClr val="17334A"/>
                    </a:solidFill>
                  </a:tcPr>
                </a:tc>
              </a:tr>
              <a:tr h="595313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334A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전체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334A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480 / 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334A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3/9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5313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334A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CN7</a:t>
                      </a:r>
                    </a:p>
                  </a:txBody>
                  <a:tcPr marL="91440" marR="91440" marT="45720" marB="45720" anchor="ctr">
                    <a:solidFill>
                      <a:srgbClr val="F1F6F8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334A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244 / 4</a:t>
                      </a:r>
                    </a:p>
                  </a:txBody>
                  <a:tcPr marL="91440" marR="91440" marT="45720" marB="45720" anchor="ctr">
                    <a:solidFill>
                      <a:srgbClr val="F1F6F8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334A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4/4</a:t>
                      </a:r>
                    </a:p>
                  </a:txBody>
                  <a:tcPr marL="91440" marR="91440" marT="45720" marB="45720" anchor="ctr">
                    <a:solidFill>
                      <a:srgbClr val="F1F6F8"/>
                    </a:solidFill>
                  </a:tcPr>
                </a:tc>
              </a:tr>
              <a:tr h="595313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334A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RG3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334A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236 / 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334A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0/5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-cwj77p-566-64">
            <a:extLst xmlns:a="http://schemas.openxmlformats.org/drawingml/2006/main">
              <a:ext uri="{FF2B5EF4-FFF2-40B4-BE49-F238E27FC236}">
                <a16:creationId xmlns:a16="http://schemas.microsoft.com/office/drawing/2014/main" id="{26BF5C43-673B-4088-9169-87E441739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4A"/>
                </a:solidFill>
                <a:latin typeface="NanumGothic"/>
                <a:ea typeface="NanumGothic"/>
                <a:cs typeface="NanumGothic"/>
              </a:defRPr>
            </a:pPr>
            <a:r>
              <a:rPr sz="1950" b="0">
                <a:solidFill>
                  <a:srgbClr val="17334A"/>
                </a:solidFill>
                <a:latin typeface="NanumGothic"/>
                <a:ea typeface="NanumGothic"/>
                <a:cs typeface="NanumGothic"/>
              </a:rPr>
              <a:t>전체 AP 95% 구간 0.0129~0.6290. 양성 9행의 결과로 현장 성능을 확정할 수 없음.</a:t>
            </a:r>
          </a:p>
        </p:txBody>
      </p:sp>
    </p:spTree>
    <p:extLst>
      <p:ext uri="{BB962C8B-B14F-4D97-AF65-F5344CB8AC3E}">
        <p14:creationId xmlns:p14="http://schemas.microsoft.com/office/powerpoint/2010/main" val="196796851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m88uts-42-64">
            <a:extLst xmlns:a="http://schemas.openxmlformats.org/drawingml/2006/main">
              <a:ext uri="{FF2B5EF4-FFF2-40B4-BE49-F238E27FC236}">
                <a16:creationId xmlns:a16="http://schemas.microsoft.com/office/drawing/2014/main" id="{4B41B77F-CB7A-4B62-9EBA-77EFE82A5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4A"/>
                </a:solidFill>
                <a:latin typeface="NanumGothic"/>
                <a:ea typeface="NanumGothic"/>
                <a:cs typeface="NanumGothic"/>
              </a:defRPr>
            </a:pPr>
            <a:r>
              <a:rPr sz="3300" b="1">
                <a:solidFill>
                  <a:srgbClr val="17334A"/>
                </a:solidFill>
                <a:latin typeface="NanumGothic"/>
                <a:ea typeface="NanumGothic"/>
                <a:cs typeface="NanumGothic"/>
              </a:rPr>
              <a:t>홀드아웃 미탐 4건은 모두 RG3에서 발생</a:t>
            </a:r>
          </a:p>
        </p:txBody>
      </p:sp>
      <p:sp>
        <p:nvSpPr>
          <p:cNvPr id="2" name="text-m88uts-666-64">
            <a:extLst xmlns:a="http://schemas.openxmlformats.org/drawingml/2006/main">
              <a:ext uri="{FF2B5EF4-FFF2-40B4-BE49-F238E27FC236}">
                <a16:creationId xmlns:a16="http://schemas.microsoft.com/office/drawing/2014/main" id="{6D32E509-3608-4D7B-B7CB-305B0327F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06675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506675"/>
                </a:solidFill>
                <a:latin typeface="NanumGothic"/>
                <a:ea typeface="NanumGothic"/>
                <a:cs typeface="NanumGothic"/>
              </a:rPr>
              <a:t>숫자 라벨 1 기준. 라벨 의미와 현장 성능은 아직 미확정</a:t>
            </a:r>
          </a:p>
        </p:txBody>
      </p:sp>
      <p:sp>
        <p:nvSpPr>
          <p:cNvPr id="3" name="text-m88uts-666-1170">
            <a:extLst xmlns:a="http://schemas.openxmlformats.org/drawingml/2006/main">
              <a:ext uri="{FF2B5EF4-FFF2-40B4-BE49-F238E27FC236}">
                <a16:creationId xmlns:a16="http://schemas.microsoft.com/office/drawing/2014/main" id="{C4F5B55C-5B7E-4085-8EC9-37841EAFF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43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06675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506675"/>
                </a:solidFill>
                <a:latin typeface="NanumGothic"/>
                <a:ea typeface="NanumGothic"/>
                <a:cs typeface="NanumGothic"/>
              </a:rPr>
              <a:t>07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2362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72384"/>
                <a:gridCol w="1975104"/>
                <a:gridCol w="1975104"/>
                <a:gridCol w="1975104"/>
                <a:gridCol w="1975104"/>
              </a:tblGrid>
              <a:tr h="590550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대상</a:t>
                      </a:r>
                    </a:p>
                  </a:txBody>
                  <a:tcPr marL="91440" marR="91440" marT="45720" marB="45720" anchor="ctr">
                    <a:solidFill>
                      <a:srgbClr val="17334A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TP</a:t>
                      </a:r>
                    </a:p>
                  </a:txBody>
                  <a:tcPr marL="91440" marR="91440" marT="45720" marB="45720" anchor="ctr">
                    <a:solidFill>
                      <a:srgbClr val="17334A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FN</a:t>
                      </a:r>
                    </a:p>
                  </a:txBody>
                  <a:tcPr marL="91440" marR="91440" marT="45720" marB="45720" anchor="ctr">
                    <a:solidFill>
                      <a:srgbClr val="17334A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FP</a:t>
                      </a:r>
                    </a:p>
                  </a:txBody>
                  <a:tcPr marL="91440" marR="91440" marT="45720" marB="45720" anchor="ctr">
                    <a:solidFill>
                      <a:srgbClr val="17334A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TN</a:t>
                      </a:r>
                    </a:p>
                  </a:txBody>
                  <a:tcPr marL="91440" marR="91440" marT="45720" marB="45720" anchor="ctr">
                    <a:solidFill>
                      <a:srgbClr val="17334A"/>
                    </a:solidFill>
                  </a:tcPr>
                </a:tc>
              </a:tr>
              <a:tr h="590550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34A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전체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34A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34A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34A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113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34A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358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34A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CN7</a:t>
                      </a:r>
                    </a:p>
                  </a:txBody>
                  <a:tcPr marL="91440" marR="91440" marT="45720" marB="45720" anchor="ctr">
                    <a:solidFill>
                      <a:srgbClr val="F1F6F8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34A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F1F6F8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34A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1F6F8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34A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28</a:t>
                      </a:r>
                    </a:p>
                  </a:txBody>
                  <a:tcPr marL="91440" marR="91440" marT="45720" marB="45720" anchor="ctr">
                    <a:solidFill>
                      <a:srgbClr val="F1F6F8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34A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212</a:t>
                      </a:r>
                    </a:p>
                  </a:txBody>
                  <a:tcPr marL="91440" marR="91440" marT="45720" marB="45720" anchor="ctr">
                    <a:solidFill>
                      <a:srgbClr val="F1F6F8"/>
                    </a:solidFill>
                  </a:tcPr>
                </a:tc>
              </a:tr>
              <a:tr h="590550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34A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RG3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34A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34A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34A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85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34A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146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m88uts-467-64">
            <a:extLst xmlns:a="http://schemas.openxmlformats.org/drawingml/2006/main">
              <a:ext uri="{FF2B5EF4-FFF2-40B4-BE49-F238E27FC236}">
                <a16:creationId xmlns:a16="http://schemas.microsoft.com/office/drawing/2014/main" id="{2D863476-0124-475A-AC33-9D642D15B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8175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D736D"/>
                </a:solidFill>
                <a:latin typeface="NanumGothic"/>
                <a:ea typeface="NanumGothic"/>
                <a:cs typeface="NanumGothic"/>
              </a:defRPr>
            </a:pPr>
            <a:r>
              <a:rPr sz="2325" b="1">
                <a:solidFill>
                  <a:srgbClr val="0D736D"/>
                </a:solidFill>
                <a:latin typeface="NanumGothic"/>
                <a:ea typeface="NanumGothic"/>
                <a:cs typeface="NanumGothic"/>
              </a:rPr>
              <a:t>정밀도 0.0424     재현율 0.5556     F1 0.0787</a:t>
            </a:r>
          </a:p>
        </p:txBody>
      </p:sp>
      <p:sp>
        <p:nvSpPr>
          <p:cNvPr id="6" name="text-m88uts-545-64">
            <a:extLst xmlns:a="http://schemas.openxmlformats.org/drawingml/2006/main">
              <a:ext uri="{FF2B5EF4-FFF2-40B4-BE49-F238E27FC236}">
                <a16:creationId xmlns:a16="http://schemas.microsoft.com/office/drawing/2014/main" id="{F26BE1B5-82E2-4FDE-B2C0-8170C0978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334A"/>
                </a:solidFill>
                <a:latin typeface="NanumGothic"/>
                <a:ea typeface="NanumGothic"/>
                <a:cs typeface="NanumGothic"/>
              </a:defRPr>
            </a:pPr>
            <a:r>
              <a:rPr sz="2025" b="0">
                <a:solidFill>
                  <a:srgbClr val="17334A"/>
                </a:solidFill>
                <a:latin typeface="NanumGothic"/>
                <a:ea typeface="NanumGothic"/>
                <a:cs typeface="NanumGothic"/>
              </a:rPr>
              <a:t>진단 임계값 0.575557. 118건 경보 중 113건은 숫자 라벨 0.</a:t>
            </a:r>
          </a:p>
        </p:txBody>
      </p:sp>
    </p:spTree>
    <p:extLst>
      <p:ext uri="{BB962C8B-B14F-4D97-AF65-F5344CB8AC3E}">
        <p14:creationId xmlns:p14="http://schemas.microsoft.com/office/powerpoint/2010/main" val="180758509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tm1p8w-42-64">
            <a:extLst xmlns:a="http://schemas.openxmlformats.org/drawingml/2006/main">
              <a:ext uri="{FF2B5EF4-FFF2-40B4-BE49-F238E27FC236}">
                <a16:creationId xmlns:a16="http://schemas.microsoft.com/office/drawing/2014/main" id="{08100648-EA69-49B5-A544-A4952201D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4A"/>
                </a:solidFill>
                <a:latin typeface="NanumGothic"/>
                <a:ea typeface="NanumGothic"/>
                <a:cs typeface="NanumGothic"/>
              </a:defRPr>
            </a:pPr>
            <a:r>
              <a:rPr sz="3300" b="1">
                <a:solidFill>
                  <a:srgbClr val="17334A"/>
                </a:solidFill>
                <a:latin typeface="NanumGothic"/>
                <a:ea typeface="NanumGothic"/>
                <a:cs typeface="NanumGothic"/>
              </a:rPr>
              <a:t>RG3의 압력 결합조건에 따라 오경보율이 달랐다</a:t>
            </a:r>
          </a:p>
        </p:txBody>
      </p:sp>
      <p:sp>
        <p:nvSpPr>
          <p:cNvPr id="2" name="text-tm1p8w-666-64">
            <a:extLst xmlns:a="http://schemas.openxmlformats.org/drawingml/2006/main">
              <a:ext uri="{FF2B5EF4-FFF2-40B4-BE49-F238E27FC236}">
                <a16:creationId xmlns:a16="http://schemas.microsoft.com/office/drawing/2014/main" id="{27050A69-2507-45D8-8960-DC618B40B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06675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506675"/>
                </a:solidFill>
                <a:latin typeface="NanumGothic"/>
                <a:ea typeface="NanumGothic"/>
                <a:cs typeface="NanumGothic"/>
              </a:rPr>
              <a:t>숫자 라벨 1 기준. 라벨 의미와 현장 성능은 아직 미확정</a:t>
            </a:r>
          </a:p>
        </p:txBody>
      </p:sp>
      <p:sp>
        <p:nvSpPr>
          <p:cNvPr id="3" name="text-tm1p8w-666-1170">
            <a:extLst xmlns:a="http://schemas.openxmlformats.org/drawingml/2006/main">
              <a:ext uri="{FF2B5EF4-FFF2-40B4-BE49-F238E27FC236}">
                <a16:creationId xmlns:a16="http://schemas.microsoft.com/office/drawing/2014/main" id="{220603A1-8615-420F-BB8B-614A83DBA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43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06675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506675"/>
                </a:solidFill>
                <a:latin typeface="NanumGothic"/>
                <a:ea typeface="NanumGothic"/>
                <a:cs typeface="NanumGothic"/>
              </a:rPr>
              <a:t>08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2809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01568"/>
                <a:gridCol w="1975104"/>
                <a:gridCol w="1755648"/>
                <a:gridCol w="1975104"/>
                <a:gridCol w="1865376"/>
              </a:tblGrid>
              <a:tr h="561975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주입 / 전환 압력¹</a:t>
                      </a:r>
                    </a:p>
                  </a:txBody>
                  <a:tcPr marL="91440" marR="91440" marT="45720" marB="45720" anchor="ctr">
                    <a:solidFill>
                      <a:srgbClr val="17334A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행 / 양성</a:t>
                      </a:r>
                    </a:p>
                  </a:txBody>
                  <a:tcPr marL="91440" marR="91440" marT="45720" marB="45720" anchor="ctr">
                    <a:solidFill>
                      <a:srgbClr val="17334A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TP / FN</a:t>
                      </a:r>
                    </a:p>
                  </a:txBody>
                  <a:tcPr marL="91440" marR="91440" marT="45720" marB="45720" anchor="ctr">
                    <a:solidFill>
                      <a:srgbClr val="17334A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FP / TN</a:t>
                      </a:r>
                    </a:p>
                  </a:txBody>
                  <a:tcPr marL="91440" marR="91440" marT="45720" marB="45720" anchor="ctr">
                    <a:solidFill>
                      <a:srgbClr val="17334A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오경보율</a:t>
                      </a:r>
                    </a:p>
                  </a:txBody>
                  <a:tcPr marL="91440" marR="91440" marT="45720" marB="45720" anchor="ctr">
                    <a:solidFill>
                      <a:srgbClr val="17334A"/>
                    </a:solidFill>
                  </a:tcPr>
                </a:tc>
              </a:tr>
              <a:tr h="561975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34A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초과 / 초과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34A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326 / 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34A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2 / 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34A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114 / 205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34A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35.74%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34A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초과 / 이하</a:t>
                      </a:r>
                    </a:p>
                  </a:txBody>
                  <a:tcPr marL="91440" marR="91440" marT="45720" marB="45720" anchor="ctr">
                    <a:solidFill>
                      <a:srgbClr val="F1F6F8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34A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106 / 4</a:t>
                      </a:r>
                    </a:p>
                  </a:txBody>
                  <a:tcPr marL="91440" marR="91440" marT="45720" marB="45720" anchor="ctr">
                    <a:solidFill>
                      <a:srgbClr val="F1F6F8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34A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1 / 3</a:t>
                      </a:r>
                    </a:p>
                  </a:txBody>
                  <a:tcPr marL="91440" marR="91440" marT="45720" marB="45720" anchor="ctr">
                    <a:solidFill>
                      <a:srgbClr val="F1F6F8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34A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31 / 71</a:t>
                      </a:r>
                    </a:p>
                  </a:txBody>
                  <a:tcPr marL="91440" marR="91440" marT="45720" marB="45720" anchor="ctr">
                    <a:solidFill>
                      <a:srgbClr val="F1F6F8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34A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30.39%</a:t>
                      </a:r>
                    </a:p>
                  </a:txBody>
                  <a:tcPr marL="91440" marR="91440" marT="45720" marB="45720" anchor="ctr">
                    <a:solidFill>
                      <a:srgbClr val="F1F6F8"/>
                    </a:solidFill>
                  </a:tcPr>
                </a:tc>
              </a:tr>
              <a:tr h="561975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34A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이하 / 초과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34A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82 / 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34A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1 / 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34A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35 / 46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34A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43.21%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34A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이하 / 이하</a:t>
                      </a:r>
                    </a:p>
                  </a:txBody>
                  <a:tcPr marL="91440" marR="91440" marT="45720" marB="45720" anchor="ctr">
                    <a:solidFill>
                      <a:srgbClr val="F1F6F8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34A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432 / 8</a:t>
                      </a:r>
                    </a:p>
                  </a:txBody>
                  <a:tcPr marL="91440" marR="91440" marT="45720" marB="45720" anchor="ctr">
                    <a:solidFill>
                      <a:srgbClr val="F1F6F8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34A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2 / 6</a:t>
                      </a:r>
                    </a:p>
                  </a:txBody>
                  <a:tcPr marL="91440" marR="91440" marT="45720" marB="45720" anchor="ctr">
                    <a:solidFill>
                      <a:srgbClr val="F1F6F8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34A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74 / 350</a:t>
                      </a:r>
                    </a:p>
                  </a:txBody>
                  <a:tcPr marL="91440" marR="91440" marT="45720" marB="45720" anchor="ctr">
                    <a:solidFill>
                      <a:srgbClr val="F1F6F8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34A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17.45%</a:t>
                      </a:r>
                    </a:p>
                  </a:txBody>
                  <a:tcPr marL="91440" marR="91440" marT="45720" marB="45720" anchor="ctr">
                    <a:solidFill>
                      <a:srgbClr val="F1F6F8"/>
                    </a:solidFill>
                  </a:tcPr>
                </a:tc>
              </a:tr>
            </a:tbl>
          </a:graphicData>
        </a:graphic>
      </p:graphicFrame>
      <p:sp>
        <p:nvSpPr>
          <p:cNvPr id="5" name="text-tm1p8w-490-64">
            <a:extLst xmlns:a="http://schemas.openxmlformats.org/drawingml/2006/main">
              <a:ext uri="{FF2B5EF4-FFF2-40B4-BE49-F238E27FC236}">
                <a16:creationId xmlns:a16="http://schemas.microsoft.com/office/drawing/2014/main" id="{05AF5703-B7A1-4F76-A78F-4C32AC4A6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06675"/>
                </a:solidFill>
                <a:latin typeface="NanumGothic"/>
                <a:ea typeface="NanumGothic"/>
                <a:cs typeface="NanumGothic"/>
              </a:defRPr>
            </a:pPr>
            <a:r>
              <a:rPr sz="1725" b="0">
                <a:solidFill>
                  <a:srgbClr val="506675"/>
                </a:solidFill>
                <a:latin typeface="NanumGothic"/>
                <a:ea typeface="NanumGothic"/>
                <a:cs typeface="NanumGothic"/>
              </a:rPr>
              <a:t>¹ 외부 학습 영역의 설비별 중앙값 대비. 개발 OOF 결과이며 홀드아웃과 별개.</a:t>
            </a:r>
          </a:p>
        </p:txBody>
      </p:sp>
      <p:sp>
        <p:nvSpPr>
          <p:cNvPr id="6" name="text-tm1p8w-569-64">
            <a:extLst xmlns:a="http://schemas.openxmlformats.org/drawingml/2006/main">
              <a:ext uri="{FF2B5EF4-FFF2-40B4-BE49-F238E27FC236}">
                <a16:creationId xmlns:a16="http://schemas.microsoft.com/office/drawing/2014/main" id="{F13A26E4-4899-4103-9D8C-20079E5F9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972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4A"/>
                </a:solidFill>
                <a:latin typeface="NanumGothic"/>
                <a:ea typeface="NanumGothic"/>
                <a:cs typeface="NanumGothic"/>
              </a:defRPr>
            </a:pPr>
            <a:r>
              <a:rPr sz="1950" b="0">
                <a:solidFill>
                  <a:srgbClr val="17334A"/>
                </a:solidFill>
                <a:latin typeface="NanumGothic"/>
                <a:ea typeface="NanumGothic"/>
                <a:cs typeface="NanumGothic"/>
              </a:rPr>
              <a:t>각 구간의 양성이 10행 미만. 설비 설정을 바꾸라는 근거로 사용할 수 없음.</a:t>
            </a:r>
          </a:p>
        </p:txBody>
      </p:sp>
    </p:spTree>
    <p:extLst>
      <p:ext uri="{BB962C8B-B14F-4D97-AF65-F5344CB8AC3E}">
        <p14:creationId xmlns:p14="http://schemas.microsoft.com/office/powerpoint/2010/main" val="193020437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z3ynvq-42-64">
            <a:extLst xmlns:a="http://schemas.openxmlformats.org/drawingml/2006/main">
              <a:ext uri="{FF2B5EF4-FFF2-40B4-BE49-F238E27FC236}">
                <a16:creationId xmlns:a16="http://schemas.microsoft.com/office/drawing/2014/main" id="{1DD7A781-4107-45A3-BE19-A1B7FAFDF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4A"/>
                </a:solidFill>
                <a:latin typeface="NanumGothic"/>
                <a:ea typeface="NanumGothic"/>
                <a:cs typeface="NanumGothic"/>
              </a:defRPr>
            </a:pPr>
            <a:r>
              <a:rPr sz="3300" b="1">
                <a:solidFill>
                  <a:srgbClr val="17334A"/>
                </a:solidFill>
                <a:latin typeface="NanumGothic"/>
                <a:ea typeface="NanumGothic"/>
                <a:cs typeface="NanumGothic"/>
              </a:rPr>
              <a:t>확률보정은 과신을 줄였지만 우위는 불확실</a:t>
            </a:r>
          </a:p>
        </p:txBody>
      </p:sp>
      <p:sp>
        <p:nvSpPr>
          <p:cNvPr id="2" name="text-z3ynvq-666-64">
            <a:extLst xmlns:a="http://schemas.openxmlformats.org/drawingml/2006/main">
              <a:ext uri="{FF2B5EF4-FFF2-40B4-BE49-F238E27FC236}">
                <a16:creationId xmlns:a16="http://schemas.microsoft.com/office/drawing/2014/main" id="{E697C7A4-1F15-41F8-A958-8D3A4BB41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06675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506675"/>
                </a:solidFill>
                <a:latin typeface="NanumGothic"/>
                <a:ea typeface="NanumGothic"/>
                <a:cs typeface="NanumGothic"/>
              </a:rPr>
              <a:t>숫자 라벨 1 기준. 라벨 의미와 현장 성능은 아직 미확정</a:t>
            </a:r>
          </a:p>
        </p:txBody>
      </p:sp>
      <p:sp>
        <p:nvSpPr>
          <p:cNvPr id="3" name="text-z3ynvq-666-1170">
            <a:extLst xmlns:a="http://schemas.openxmlformats.org/drawingml/2006/main">
              <a:ext uri="{FF2B5EF4-FFF2-40B4-BE49-F238E27FC236}">
                <a16:creationId xmlns:a16="http://schemas.microsoft.com/office/drawing/2014/main" id="{E36BD50A-9F91-4E6D-BADA-49B8F27B1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43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06675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506675"/>
                </a:solidFill>
                <a:latin typeface="NanumGothic"/>
                <a:ea typeface="NanumGothic"/>
                <a:cs typeface="NanumGothic"/>
              </a:rPr>
              <a:t>09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2324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30752"/>
                <a:gridCol w="1975104"/>
                <a:gridCol w="2633472"/>
                <a:gridCol w="2633472"/>
              </a:tblGrid>
              <a:tr h="581025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개발 OOF</a:t>
                      </a:r>
                    </a:p>
                  </a:txBody>
                  <a:tcPr marL="91440" marR="91440" marT="45720" marB="45720" anchor="ctr">
                    <a:solidFill>
                      <a:srgbClr val="17334A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AP</a:t>
                      </a:r>
                    </a:p>
                  </a:txBody>
                  <a:tcPr marL="91440" marR="91440" marT="45720" marB="45720" anchor="ctr">
                    <a:solidFill>
                      <a:srgbClr val="17334A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Brier (낮음)</a:t>
                      </a:r>
                    </a:p>
                  </a:txBody>
                  <a:tcPr marL="91440" marR="91440" marT="45720" marB="45720" anchor="ctr">
                    <a:solidFill>
                      <a:srgbClr val="17334A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Log loss (낮음)</a:t>
                      </a:r>
                    </a:p>
                  </a:txBody>
                  <a:tcPr marL="91440" marR="91440" marT="45720" marB="45720" anchor="ctr">
                    <a:solidFill>
                      <a:srgbClr val="17334A"/>
                    </a:solidFill>
                  </a:tcPr>
                </a:tc>
              </a:tr>
              <a:tr h="581025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34A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발생률 상수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34A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0.0166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34A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0.016954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34A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0.087161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34A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원점수</a:t>
                      </a:r>
                    </a:p>
                  </a:txBody>
                  <a:tcPr marL="91440" marR="91440" marT="45720" marB="45720" anchor="ctr">
                    <a:solidFill>
                      <a:srgbClr val="F1F6F8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34A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0.1154</a:t>
                      </a:r>
                    </a:p>
                  </a:txBody>
                  <a:tcPr marL="91440" marR="91440" marT="45720" marB="45720" anchor="ctr">
                    <a:solidFill>
                      <a:srgbClr val="F1F6F8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34A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0.160977</a:t>
                      </a:r>
                    </a:p>
                  </a:txBody>
                  <a:tcPr marL="91440" marR="91440" marT="45720" marB="45720" anchor="ctr">
                    <a:solidFill>
                      <a:srgbClr val="F1F6F8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34A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0.484222</a:t>
                      </a:r>
                    </a:p>
                  </a:txBody>
                  <a:tcPr marL="91440" marR="91440" marT="45720" marB="45720" anchor="ctr">
                    <a:solidFill>
                      <a:srgbClr val="F1F6F8"/>
                    </a:solidFill>
                  </a:tcPr>
                </a:tc>
              </a:tr>
              <a:tr h="581025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34A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중첩 sigmoid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34A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0.0617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34A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0.016695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34A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0.080736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z3ynvq-459-64">
            <a:extLst xmlns:a="http://schemas.openxmlformats.org/drawingml/2006/main">
              <a:ext uri="{FF2B5EF4-FFF2-40B4-BE49-F238E27FC236}">
                <a16:creationId xmlns:a16="http://schemas.microsoft.com/office/drawing/2014/main" id="{83D23A64-570E-41EB-A445-6401C9270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719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D736D"/>
                </a:solidFill>
                <a:latin typeface="NanumGothic"/>
                <a:ea typeface="NanumGothic"/>
                <a:cs typeface="NanumGothic"/>
              </a:defRPr>
            </a:pPr>
            <a:r>
              <a:rPr sz="2325" b="1">
                <a:solidFill>
                  <a:srgbClr val="0D736D"/>
                </a:solidFill>
                <a:latin typeface="NanumGothic"/>
                <a:ea typeface="NanumGothic"/>
                <a:cs typeface="NanumGothic"/>
              </a:rPr>
              <a:t>평균 점수 29.68%에서 1.77%로 감소</a:t>
            </a:r>
          </a:p>
        </p:txBody>
      </p:sp>
      <p:sp>
        <p:nvSpPr>
          <p:cNvPr id="6" name="text-z3ynvq-525-64">
            <a:extLst xmlns:a="http://schemas.openxmlformats.org/drawingml/2006/main">
              <a:ext uri="{FF2B5EF4-FFF2-40B4-BE49-F238E27FC236}">
                <a16:creationId xmlns:a16="http://schemas.microsoft.com/office/drawing/2014/main" id="{7D7379CD-36DB-4E06-8C4D-0C383FDA6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0625"/>
            <a:ext cx="109728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334A"/>
                </a:solidFill>
                <a:latin typeface="NanumGothic"/>
                <a:ea typeface="NanumGothic"/>
                <a:cs typeface="NanumGothic"/>
              </a:defRPr>
            </a:pPr>
            <a:r>
              <a:rPr sz="2025" b="0">
                <a:solidFill>
                  <a:srgbClr val="17334A"/>
                </a:solidFill>
                <a:latin typeface="NanumGothic"/>
                <a:ea typeface="NanumGothic"/>
                <a:cs typeface="NanumGothic"/>
              </a:rPr>
              <a:t>상수 대비 Brier 개선 구간에 0 포함. RG3도 상수보다 나쁨.</a:t>
            </a:r>
          </a:p>
          <a:p xmlns:a="http://schemas.openxmlformats.org/drawingml/2006/main">
            <a:pPr algn="l">
              <a:defRPr sz="2025" b="0">
                <a:solidFill>
                  <a:srgbClr val="17334A"/>
                </a:solidFill>
                <a:latin typeface="NanumGothic"/>
                <a:ea typeface="NanumGothic"/>
                <a:cs typeface="NanumGothic"/>
              </a:defRPr>
            </a:pPr>
            <a:r>
              <a:rPr sz="2025" b="0">
                <a:solidFill>
                  <a:srgbClr val="17334A"/>
                </a:solidFill>
                <a:latin typeface="NanumGothic"/>
                <a:ea typeface="NanumGothic"/>
                <a:cs typeface="NanumGothic"/>
              </a:rPr>
              <a:t>기존 모델을 교체하지 않고 별도 연구 결과로 보존.</a:t>
            </a:r>
          </a:p>
        </p:txBody>
      </p:sp>
    </p:spTree>
    <p:extLst>
      <p:ext uri="{BB962C8B-B14F-4D97-AF65-F5344CB8AC3E}">
        <p14:creationId xmlns:p14="http://schemas.microsoft.com/office/powerpoint/2010/main" val="173703474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7npxa5-42-64">
            <a:extLst xmlns:a="http://schemas.openxmlformats.org/drawingml/2006/main">
              <a:ext uri="{FF2B5EF4-FFF2-40B4-BE49-F238E27FC236}">
                <a16:creationId xmlns:a16="http://schemas.microsoft.com/office/drawing/2014/main" id="{A47AE79F-377C-40ED-823C-92053E9C1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4A"/>
                </a:solidFill>
                <a:latin typeface="NanumGothic"/>
                <a:ea typeface="NanumGothic"/>
                <a:cs typeface="NanumGothic"/>
              </a:defRPr>
            </a:pPr>
            <a:r>
              <a:rPr sz="3300" b="1">
                <a:solidFill>
                  <a:srgbClr val="17334A"/>
                </a:solidFill>
                <a:latin typeface="NanumGothic"/>
                <a:ea typeface="NanumGothic"/>
                <a:cs typeface="NanumGothic"/>
              </a:rPr>
              <a:t>71,180행 모두 기존 검사를 유지한다</a:t>
            </a:r>
          </a:p>
        </p:txBody>
      </p:sp>
      <p:sp>
        <p:nvSpPr>
          <p:cNvPr id="2" name="text-7npxa5-666-64">
            <a:extLst xmlns:a="http://schemas.openxmlformats.org/drawingml/2006/main">
              <a:ext uri="{FF2B5EF4-FFF2-40B4-BE49-F238E27FC236}">
                <a16:creationId xmlns:a16="http://schemas.microsoft.com/office/drawing/2014/main" id="{D4BC8433-1C09-4924-A4CA-80BA0F6A9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06675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506675"/>
                </a:solidFill>
                <a:latin typeface="NanumGothic"/>
                <a:ea typeface="NanumGothic"/>
                <a:cs typeface="NanumGothic"/>
              </a:rPr>
              <a:t>숫자 라벨 1 기준. 라벨 의미와 현장 성능은 아직 미확정</a:t>
            </a:r>
          </a:p>
        </p:txBody>
      </p:sp>
      <p:sp>
        <p:nvSpPr>
          <p:cNvPr id="3" name="text-7npxa5-666-1170">
            <a:extLst xmlns:a="http://schemas.openxmlformats.org/drawingml/2006/main">
              <a:ext uri="{FF2B5EF4-FFF2-40B4-BE49-F238E27FC236}">
                <a16:creationId xmlns:a16="http://schemas.microsoft.com/office/drawing/2014/main" id="{4D38A94F-6F05-4D7D-B9F3-DA15E0E43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43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06675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506675"/>
                </a:solidFill>
                <a:latin typeface="NanumGothic"/>
                <a:ea typeface="NanumGothic"/>
                <a:cs typeface="NanumGothic"/>
              </a:rPr>
              <a:t>10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2476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11296"/>
                <a:gridCol w="1975104"/>
                <a:gridCol w="5486400"/>
              </a:tblGrid>
              <a:tr h="619125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대상</a:t>
                      </a:r>
                    </a:p>
                  </a:txBody>
                  <a:tcPr marL="91440" marR="91440" marT="45720" marB="45720" anchor="ctr">
                    <a:solidFill>
                      <a:srgbClr val="17334A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행 수</a:t>
                      </a:r>
                    </a:p>
                  </a:txBody>
                  <a:tcPr marL="91440" marR="91440" marT="45720" marB="45720" anchor="ctr">
                    <a:solidFill>
                      <a:srgbClr val="17334A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현재 조치</a:t>
                      </a:r>
                    </a:p>
                  </a:txBody>
                  <a:tcPr marL="91440" marR="91440" marT="45720" marB="45720" anchor="ctr">
                    <a:solidFill>
                      <a:srgbClr val="17334A"/>
                    </a:solidFill>
                  </a:tcPr>
                </a:tc>
              </a:tr>
              <a:tr h="619125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34A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RG3 전체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34A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35,941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34A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성능 미검증으로 기존 검사 유지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34A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CN7 분포 범위 밖</a:t>
                      </a:r>
                    </a:p>
                  </a:txBody>
                  <a:tcPr marL="91440" marR="91440" marT="45720" marB="45720" anchor="ctr">
                    <a:solidFill>
                      <a:srgbClr val="F1F6F8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34A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19,607</a:t>
                      </a:r>
                    </a:p>
                  </a:txBody>
                  <a:tcPr marL="91440" marR="91440" marT="45720" marB="45720" anchor="ctr">
                    <a:solidFill>
                      <a:srgbClr val="F1F6F8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34A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OOD로 기존 검사 유지</a:t>
                      </a:r>
                    </a:p>
                  </a:txBody>
                  <a:tcPr marL="91440" marR="91440" marT="45720" marB="45720" anchor="ctr">
                    <a:solidFill>
                      <a:srgbClr val="F1F6F8"/>
                    </a:solidFill>
                  </a:tcPr>
                </a:tc>
              </a:tr>
              <a:tr h="619125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34A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CN7 나머지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34A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15,632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34A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라벨 미확정으로 기존 검사 유지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7npxa5-480-64">
            <a:extLst xmlns:a="http://schemas.openxmlformats.org/drawingml/2006/main">
              <a:ext uri="{FF2B5EF4-FFF2-40B4-BE49-F238E27FC236}">
                <a16:creationId xmlns:a16="http://schemas.microsoft.com/office/drawing/2014/main" id="{F3CE3470-93A4-4DC4-8AC7-EB45435D6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D736D"/>
                </a:solidFill>
                <a:latin typeface="NanumGothic"/>
                <a:ea typeface="NanumGothic"/>
                <a:cs typeface="NanumGothic"/>
              </a:defRPr>
            </a:pPr>
            <a:r>
              <a:rPr sz="2325" b="1">
                <a:solidFill>
                  <a:srgbClr val="0D736D"/>
                </a:solidFill>
                <a:latin typeface="NanumGothic"/>
                <a:ea typeface="NanumGothic"/>
                <a:cs typeface="NanumGothic"/>
              </a:rPr>
              <a:t>HIGH / REVIEW / STANDARD는 오프라인 참고 순위</a:t>
            </a:r>
          </a:p>
        </p:txBody>
      </p:sp>
      <p:sp>
        <p:nvSpPr>
          <p:cNvPr id="6" name="text-7npxa5-553-64">
            <a:extLst xmlns:a="http://schemas.openxmlformats.org/drawingml/2006/main">
              <a:ext uri="{FF2B5EF4-FFF2-40B4-BE49-F238E27FC236}">
                <a16:creationId xmlns:a16="http://schemas.microsoft.com/office/drawing/2014/main" id="{30FB8D4B-45C3-4EAE-9E0D-A4D7D675A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6732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334A"/>
                </a:solidFill>
                <a:latin typeface="NanumGothic"/>
                <a:ea typeface="NanumGothic"/>
                <a:cs typeface="NanumGothic"/>
              </a:defRPr>
            </a:pPr>
            <a:r>
              <a:rPr sz="2025" b="0">
                <a:solidFill>
                  <a:srgbClr val="17334A"/>
                </a:solidFill>
                <a:latin typeface="NanumGothic"/>
                <a:ea typeface="NanumGothic"/>
                <a:cs typeface="NanumGothic"/>
              </a:rPr>
              <a:t>검사 생략과 자동 설비 제어를 하지 않음. 비라벨에는 정답이 없어 실제 정확도를 계산할 수 없음.</a:t>
            </a:r>
          </a:p>
        </p:txBody>
      </p:sp>
    </p:spTree>
    <p:extLst>
      <p:ext uri="{BB962C8B-B14F-4D97-AF65-F5344CB8AC3E}">
        <p14:creationId xmlns:p14="http://schemas.microsoft.com/office/powerpoint/2010/main" val="140626830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k5zrak-42-64">
            <a:extLst xmlns:a="http://schemas.openxmlformats.org/drawingml/2006/main">
              <a:ext uri="{FF2B5EF4-FFF2-40B4-BE49-F238E27FC236}">
                <a16:creationId xmlns:a16="http://schemas.microsoft.com/office/drawing/2014/main" id="{6F708EE1-B3B5-4D68-BCC9-1D9714356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4A"/>
                </a:solidFill>
                <a:latin typeface="NanumGothic"/>
                <a:ea typeface="NanumGothic"/>
                <a:cs typeface="NanumGothic"/>
              </a:defRPr>
            </a:pPr>
            <a:r>
              <a:rPr sz="3300" b="1">
                <a:solidFill>
                  <a:srgbClr val="17334A"/>
                </a:solidFill>
                <a:latin typeface="NanumGothic"/>
                <a:ea typeface="NanumGothic"/>
                <a:cs typeface="NanumGothic"/>
              </a:rPr>
              <a:t>검사 순서의 효과는 실제 운영 기록으로 검증</a:t>
            </a:r>
          </a:p>
        </p:txBody>
      </p:sp>
      <p:sp>
        <p:nvSpPr>
          <p:cNvPr id="2" name="text-k5zrak-666-64">
            <a:extLst xmlns:a="http://schemas.openxmlformats.org/drawingml/2006/main">
              <a:ext uri="{FF2B5EF4-FFF2-40B4-BE49-F238E27FC236}">
                <a16:creationId xmlns:a16="http://schemas.microsoft.com/office/drawing/2014/main" id="{432B776C-8D81-46F3-BF10-D45D190AF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06675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506675"/>
                </a:solidFill>
                <a:latin typeface="NanumGothic"/>
                <a:ea typeface="NanumGothic"/>
                <a:cs typeface="NanumGothic"/>
              </a:rPr>
              <a:t>숫자 라벨 1 기준. 라벨 의미와 현장 성능은 아직 미확정</a:t>
            </a:r>
          </a:p>
        </p:txBody>
      </p:sp>
      <p:sp>
        <p:nvSpPr>
          <p:cNvPr id="3" name="text-k5zrak-666-1170">
            <a:extLst xmlns:a="http://schemas.openxmlformats.org/drawingml/2006/main">
              <a:ext uri="{FF2B5EF4-FFF2-40B4-BE49-F238E27FC236}">
                <a16:creationId xmlns:a16="http://schemas.microsoft.com/office/drawing/2014/main" id="{A388CDD7-D2D9-4589-BFFA-BFCAB786C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43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06675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506675"/>
                </a:solidFill>
                <a:latin typeface="NanumGothic"/>
                <a:ea typeface="NanumGothic"/>
                <a:cs typeface="NanumGothic"/>
              </a:rPr>
              <a:t>11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2705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608576"/>
                <a:gridCol w="6364224"/>
              </a:tblGrid>
              <a:tr h="676275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검증하려는 효과</a:t>
                      </a:r>
                    </a:p>
                  </a:txBody>
                  <a:tcPr marL="91440" marR="91440" marT="45720" marB="45720" anchor="ctr">
                    <a:solidFill>
                      <a:srgbClr val="17334A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필요한 운영 기록</a:t>
                      </a:r>
                    </a:p>
                  </a:txBody>
                  <a:tcPr marL="91440" marR="91440" marT="45720" marB="45720" anchor="ctr">
                    <a:solidFill>
                      <a:srgbClr val="17334A"/>
                    </a:solidFill>
                  </a:tcPr>
                </a:tc>
              </a:tr>
              <a:tr h="676275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34A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고위험 제품을 더 일찍 확인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34A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검사 가능 시각, 검사 시작·종료, 확정 결과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76275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34A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검사 자원의 과도한 집중 방지</a:t>
                      </a:r>
                    </a:p>
                  </a:txBody>
                  <a:tcPr marL="91440" marR="91440" marT="45720" marB="45720" anchor="ctr">
                    <a:solidFill>
                      <a:srgbClr val="F1F6F8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34A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설비별 검사 인력·장비, 필수·긴급검사 규칙</a:t>
                      </a:r>
                    </a:p>
                  </a:txBody>
                  <a:tcPr marL="91440" marR="91440" marT="45720" marB="45720" anchor="ctr">
                    <a:solidFill>
                      <a:srgbClr val="F1F6F8"/>
                    </a:solidFill>
                  </a:tcPr>
                </a:tc>
              </a:tr>
              <a:tr h="676275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34A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작업자의 판단 부담 감소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34A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오경보 대응시간, 순위 수정, 작업자 개입 이유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k5zrak-500-64">
            <a:extLst xmlns:a="http://schemas.openxmlformats.org/drawingml/2006/main">
              <a:ext uri="{FF2B5EF4-FFF2-40B4-BE49-F238E27FC236}">
                <a16:creationId xmlns:a16="http://schemas.microsoft.com/office/drawing/2014/main" id="{75887119-5BE6-454F-A8C0-46F6CC671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D736D"/>
                </a:solidFill>
                <a:latin typeface="NanumGothic"/>
                <a:ea typeface="NanumGothic"/>
                <a:cs typeface="NanumGothic"/>
              </a:defRPr>
            </a:pPr>
            <a:r>
              <a:rPr sz="2100" b="1">
                <a:solidFill>
                  <a:srgbClr val="0D736D"/>
                </a:solidFill>
                <a:latin typeface="NanumGothic"/>
                <a:ea typeface="NanumGothic"/>
                <a:cs typeface="NanumGothic"/>
              </a:rPr>
              <a:t>현장 검증 제안</a:t>
            </a:r>
          </a:p>
        </p:txBody>
      </p:sp>
      <p:sp>
        <p:nvSpPr>
          <p:cNvPr id="6" name="text-k5zrak-548-64">
            <a:extLst xmlns:a="http://schemas.openxmlformats.org/drawingml/2006/main">
              <a:ext uri="{FF2B5EF4-FFF2-40B4-BE49-F238E27FC236}">
                <a16:creationId xmlns:a16="http://schemas.microsoft.com/office/drawing/2014/main" id="{7721355B-DC2D-4364-B0F0-007B4B9A1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334A"/>
                </a:solidFill>
                <a:latin typeface="NanumGothic"/>
                <a:ea typeface="NanumGothic"/>
                <a:cs typeface="NanumGothic"/>
              </a:defRPr>
            </a:pPr>
            <a:r>
              <a:rPr sz="2025" b="0">
                <a:solidFill>
                  <a:srgbClr val="17334A"/>
                </a:solidFill>
                <a:latin typeface="NanumGothic"/>
                <a:ea typeface="NanumGothic"/>
                <a:cs typeface="NanumGothic"/>
              </a:rPr>
              <a:t>같은 검사 자원에서 기존 순서와 AI 참고 순서의 발견 지연·작업 부담을 비교한다.</a:t>
            </a:r>
          </a:p>
          <a:p xmlns:a="http://schemas.openxmlformats.org/drawingml/2006/main">
            <a:pPr algn="l">
              <a:defRPr sz="2025" b="0">
                <a:solidFill>
                  <a:srgbClr val="17334A"/>
                </a:solidFill>
                <a:latin typeface="NanumGothic"/>
                <a:ea typeface="NanumGothic"/>
                <a:cs typeface="NanumGothic"/>
              </a:defRPr>
            </a:pPr>
            <a:r>
              <a:rPr sz="2025" b="0">
                <a:solidFill>
                  <a:srgbClr val="17334A"/>
                </a:solidFill>
                <a:latin typeface="NanumGothic"/>
                <a:ea typeface="NanumGothic"/>
                <a:cs typeface="NanumGothic"/>
              </a:rPr>
              <a:t>절감 효과는 아직 산출하지 않았다.</a:t>
            </a:r>
          </a:p>
        </p:txBody>
      </p:sp>
    </p:spTree>
    <p:extLst>
      <p:ext uri="{BB962C8B-B14F-4D97-AF65-F5344CB8AC3E}">
        <p14:creationId xmlns:p14="http://schemas.microsoft.com/office/powerpoint/2010/main" val="124645093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ab72wb-42-64">
            <a:extLst xmlns:a="http://schemas.openxmlformats.org/drawingml/2006/main">
              <a:ext uri="{FF2B5EF4-FFF2-40B4-BE49-F238E27FC236}">
                <a16:creationId xmlns:a16="http://schemas.microsoft.com/office/drawing/2014/main" id="{9926C20A-01EA-4331-9EEC-AEEB13028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4A"/>
                </a:solidFill>
                <a:latin typeface="NanumGothic"/>
                <a:ea typeface="NanumGothic"/>
                <a:cs typeface="NanumGothic"/>
              </a:defRPr>
            </a:pPr>
            <a:r>
              <a:rPr sz="3300" b="1">
                <a:solidFill>
                  <a:srgbClr val="17334A"/>
                </a:solidFill>
                <a:latin typeface="NanumGothic"/>
                <a:ea typeface="NanumGothic"/>
                <a:cs typeface="NanumGothic"/>
              </a:rPr>
              <a:t>CPU 실행과 추적 가능한 재현 기록</a:t>
            </a:r>
          </a:p>
        </p:txBody>
      </p:sp>
      <p:sp>
        <p:nvSpPr>
          <p:cNvPr id="2" name="text-ab72wb-666-64">
            <a:extLst xmlns:a="http://schemas.openxmlformats.org/drawingml/2006/main">
              <a:ext uri="{FF2B5EF4-FFF2-40B4-BE49-F238E27FC236}">
                <a16:creationId xmlns:a16="http://schemas.microsoft.com/office/drawing/2014/main" id="{651E7B6D-A7F0-42F9-99E5-8640A0479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06675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506675"/>
                </a:solidFill>
                <a:latin typeface="NanumGothic"/>
                <a:ea typeface="NanumGothic"/>
                <a:cs typeface="NanumGothic"/>
              </a:rPr>
              <a:t>숫자 라벨 1 기준. 라벨 의미와 현장 성능은 아직 미확정</a:t>
            </a:r>
          </a:p>
        </p:txBody>
      </p:sp>
      <p:sp>
        <p:nvSpPr>
          <p:cNvPr id="3" name="text-ab72wb-666-1170">
            <a:extLst xmlns:a="http://schemas.openxmlformats.org/drawingml/2006/main">
              <a:ext uri="{FF2B5EF4-FFF2-40B4-BE49-F238E27FC236}">
                <a16:creationId xmlns:a16="http://schemas.microsoft.com/office/drawing/2014/main" id="{2995D381-87E8-489C-9742-6FC241F4A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43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06675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506675"/>
                </a:solidFill>
                <a:latin typeface="NanumGothic"/>
                <a:ea typeface="NanumGothic"/>
                <a:cs typeface="NanumGothic"/>
              </a:rPr>
              <a:t>12</a:t>
            </a:r>
          </a:p>
        </p:txBody>
      </p:sp>
      <p:sp>
        <p:nvSpPr>
          <p:cNvPr id="4" name="text-ab72wb-176-64">
            <a:extLst xmlns:a="http://schemas.openxmlformats.org/drawingml/2006/main">
              <a:ext uri="{FF2B5EF4-FFF2-40B4-BE49-F238E27FC236}">
                <a16:creationId xmlns:a16="http://schemas.microsoft.com/office/drawing/2014/main" id="{86E725C1-7A4F-44B9-90AC-581D61472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D736D"/>
                </a:solidFill>
                <a:latin typeface="NanumGothic"/>
                <a:ea typeface="NanumGothic"/>
                <a:cs typeface="NanumGothic"/>
              </a:defRPr>
            </a:pPr>
            <a:r>
              <a:rPr sz="2250" b="1">
                <a:solidFill>
                  <a:srgbClr val="0D736D"/>
                </a:solidFill>
                <a:latin typeface="NanumGothic"/>
                <a:ea typeface="NanumGothic"/>
                <a:cs typeface="NanumGothic"/>
              </a:rPr>
              <a:t>.venv-repro/bin/python run_local.py quick</a:t>
            </a:r>
          </a:p>
          <a:p xmlns:a="http://schemas.openxmlformats.org/drawingml/2006/main">
            <a:pPr algn="l">
              <a:defRPr sz="2250" b="1">
                <a:solidFill>
                  <a:srgbClr val="0D736D"/>
                </a:solidFill>
                <a:latin typeface="NanumGothic"/>
                <a:ea typeface="NanumGothic"/>
                <a:cs typeface="NanumGothic"/>
              </a:defRPr>
            </a:pPr>
            <a:r>
              <a:rPr sz="2250" b="1">
                <a:solidFill>
                  <a:srgbClr val="0D736D"/>
                </a:solidFill>
                <a:latin typeface="NanumGothic"/>
                <a:ea typeface="NanumGothic"/>
                <a:cs typeface="NanumGothic"/>
              </a:rPr>
              <a:t>.venv-repro/bin/python run_local.py full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3086100"/>
          <a:ext xmlns:a="http://schemas.openxmlformats.org/drawingml/2006/main" cx="10972800" cy="2362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50208"/>
                <a:gridCol w="7022592"/>
              </a:tblGrid>
              <a:tr h="590550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확인 범위</a:t>
                      </a:r>
                    </a:p>
                  </a:txBody>
                  <a:tcPr marL="91440" marR="91440" marT="45720" marB="45720" anchor="ctr">
                    <a:solidFill>
                      <a:srgbClr val="17334A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현재 증거</a:t>
                      </a:r>
                    </a:p>
                  </a:txBody>
                  <a:tcPr marL="91440" marR="91440" marT="45720" marB="45720" anchor="ctr">
                    <a:solidFill>
                      <a:srgbClr val="17334A"/>
                    </a:solidFill>
                  </a:tcPr>
                </a:tc>
              </a:tr>
              <a:tr h="590550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34A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기본 분석 재실행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34A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주요 JSON/CSV 5개 해시 동일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34A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추가 확률보정 연구</a:t>
                      </a:r>
                    </a:p>
                  </a:txBody>
                  <a:tcPr marL="91440" marR="91440" marT="45720" marB="45720" anchor="ctr">
                    <a:solidFill>
                      <a:srgbClr val="F1F6F8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34A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독립 반복 산출물 7개 해시 동일</a:t>
                      </a:r>
                    </a:p>
                  </a:txBody>
                  <a:tcPr marL="91440" marR="91440" marT="45720" marB="45720" anchor="ctr">
                    <a:solidFill>
                      <a:srgbClr val="F1F6F8"/>
                    </a:solidFill>
                  </a:tcPr>
                </a:tc>
              </a:tr>
              <a:tr h="590550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34A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검증과 추적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34A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18 tests, 37/37 점검, 분할 명세와 단계별 로그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-ab72wb-599-64">
            <a:extLst xmlns:a="http://schemas.openxmlformats.org/drawingml/2006/main">
              <a:ext uri="{FF2B5EF4-FFF2-40B4-BE49-F238E27FC236}">
                <a16:creationId xmlns:a16="http://schemas.microsoft.com/office/drawing/2014/main" id="{87861E53-074B-42E1-9B11-EF80AAE45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05475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06675"/>
                </a:solidFill>
                <a:latin typeface="NanumGothic"/>
                <a:ea typeface="NanumGothic"/>
                <a:cs typeface="NanumGothic"/>
              </a:defRPr>
            </a:pPr>
            <a:r>
              <a:rPr sz="1800" b="0">
                <a:solidFill>
                  <a:srgbClr val="506675"/>
                </a:solidFill>
                <a:latin typeface="NanumGothic"/>
                <a:ea typeface="NanumGothic"/>
                <a:cs typeface="NanumGothic"/>
              </a:rPr>
              <a:t>모델과 문서 환경을 분리. 원본 데이터와 기존 공유 ZIP은 보존.</a:t>
            </a:r>
          </a:p>
        </p:txBody>
      </p:sp>
    </p:spTree>
    <p:extLst>
      <p:ext uri="{BB962C8B-B14F-4D97-AF65-F5344CB8AC3E}">
        <p14:creationId xmlns:p14="http://schemas.microsoft.com/office/powerpoint/2010/main" val="19820394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31n1x0-42-64">
            <a:extLst xmlns:a="http://schemas.openxmlformats.org/drawingml/2006/main">
              <a:ext uri="{FF2B5EF4-FFF2-40B4-BE49-F238E27FC236}">
                <a16:creationId xmlns:a16="http://schemas.microsoft.com/office/drawing/2014/main" id="{7105ED0F-DD5F-4A1D-A09E-496A8864A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4A"/>
                </a:solidFill>
                <a:latin typeface="NanumGothic"/>
                <a:ea typeface="NanumGothic"/>
                <a:cs typeface="NanumGothic"/>
              </a:defRPr>
            </a:pPr>
            <a:r>
              <a:rPr sz="3300" b="1">
                <a:solidFill>
                  <a:srgbClr val="17334A"/>
                </a:solidFill>
                <a:latin typeface="NanumGothic"/>
                <a:ea typeface="NanumGothic"/>
                <a:cs typeface="NanumGothic"/>
              </a:rPr>
              <a:t>다음 판단에 필요한 네 가지 근거</a:t>
            </a:r>
          </a:p>
        </p:txBody>
      </p:sp>
      <p:sp>
        <p:nvSpPr>
          <p:cNvPr id="2" name="text-31n1x0-666-64">
            <a:extLst xmlns:a="http://schemas.openxmlformats.org/drawingml/2006/main">
              <a:ext uri="{FF2B5EF4-FFF2-40B4-BE49-F238E27FC236}">
                <a16:creationId xmlns:a16="http://schemas.microsoft.com/office/drawing/2014/main" id="{AC3A957D-228E-4DB7-8AE5-A16107EB5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06675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506675"/>
                </a:solidFill>
                <a:latin typeface="NanumGothic"/>
                <a:ea typeface="NanumGothic"/>
                <a:cs typeface="NanumGothic"/>
              </a:rPr>
              <a:t>숫자 라벨 1 기준. 라벨 의미와 현장 성능은 아직 미확정</a:t>
            </a:r>
          </a:p>
        </p:txBody>
      </p:sp>
      <p:sp>
        <p:nvSpPr>
          <p:cNvPr id="3" name="text-31n1x0-666-1170">
            <a:extLst xmlns:a="http://schemas.openxmlformats.org/drawingml/2006/main">
              <a:ext uri="{FF2B5EF4-FFF2-40B4-BE49-F238E27FC236}">
                <a16:creationId xmlns:a16="http://schemas.microsoft.com/office/drawing/2014/main" id="{4A87627B-D9B9-4C1F-8728-0710E2E7E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43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06675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506675"/>
                </a:solidFill>
                <a:latin typeface="NanumGothic"/>
                <a:ea typeface="NanumGothic"/>
                <a:cs typeface="NanumGothic"/>
              </a:rPr>
              <a:t>13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596128"/>
                <a:gridCol w="5376672"/>
              </a:tblGrid>
              <a:tr h="590550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필요 자료</a:t>
                      </a:r>
                    </a:p>
                  </a:txBody>
                  <a:tcPr marL="91440" marR="91440" marT="45720" marB="45720" anchor="ctr">
                    <a:solidFill>
                      <a:srgbClr val="17334A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확인할 판단</a:t>
                      </a:r>
                    </a:p>
                  </a:txBody>
                  <a:tcPr marL="91440" marR="91440" marT="45720" marB="45720" anchor="ctr">
                    <a:solidFill>
                      <a:srgbClr val="17334A"/>
                    </a:solidFill>
                  </a:tcPr>
                </a:tc>
              </a:tr>
              <a:tr h="590550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34A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파일 해시에 대응하는 라벨 코드북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34A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PassOrFail의 0/1 의미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34A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샷·제품·캐비티 키와 실제 시각</a:t>
                      </a:r>
                    </a:p>
                  </a:txBody>
                  <a:tcPr marL="91440" marR="91440" marT="45720" marB="45720" anchor="ctr">
                    <a:solidFill>
                      <a:srgbClr val="F1F6F8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34A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예측 단위와 검사 전 정보 가용성</a:t>
                      </a:r>
                    </a:p>
                  </a:txBody>
                  <a:tcPr marL="91440" marR="91440" marT="45720" marB="45720" anchor="ctr">
                    <a:solidFill>
                      <a:srgbClr val="F1F6F8"/>
                    </a:solidFill>
                  </a:tcPr>
                </a:tc>
              </a:tr>
              <a:tr h="590550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34A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원시 단위와 정규화 변환 이력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34A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전처리 범위와 신규 샷 추론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34A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새 기간의 설비별 검사 라벨</a:t>
                      </a:r>
                    </a:p>
                  </a:txBody>
                  <a:tcPr marL="91440" marR="91440" marT="45720" marB="45720" anchor="ctr">
                    <a:solidFill>
                      <a:srgbClr val="F1F6F8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34A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독립 미래 성능과 RG3 활용 가능성</a:t>
                      </a:r>
                    </a:p>
                  </a:txBody>
                  <a:tcPr marL="91440" marR="91440" marT="45720" marB="45720" anchor="ctr">
                    <a:solidFill>
                      <a:srgbClr val="F1F6F8"/>
                    </a:solidFill>
                  </a:tcPr>
                </a:tc>
              </a:tr>
            </a:tbl>
          </a:graphicData>
        </a:graphic>
      </p:graphicFrame>
      <p:sp>
        <p:nvSpPr>
          <p:cNvPr id="5" name="text-31n1x0-520-64">
            <a:extLst xmlns:a="http://schemas.openxmlformats.org/drawingml/2006/main">
              <a:ext uri="{FF2B5EF4-FFF2-40B4-BE49-F238E27FC236}">
                <a16:creationId xmlns:a16="http://schemas.microsoft.com/office/drawing/2014/main" id="{A3200806-B94F-493E-9FA9-F7B72A320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D736D"/>
                </a:solidFill>
                <a:latin typeface="NanumGothic"/>
                <a:ea typeface="NanumGothic"/>
                <a:cs typeface="NanumGothic"/>
              </a:defRPr>
            </a:pPr>
            <a:r>
              <a:rPr sz="2250" b="1">
                <a:solidFill>
                  <a:srgbClr val="0D736D"/>
                </a:solidFill>
                <a:latin typeface="NanumGothic"/>
                <a:ea typeface="NanumGothic"/>
                <a:cs typeface="NanumGothic"/>
              </a:rPr>
              <a:t>현재 결론</a:t>
            </a:r>
          </a:p>
        </p:txBody>
      </p:sp>
      <p:sp>
        <p:nvSpPr>
          <p:cNvPr id="6" name="text-31n1x0-578-64">
            <a:extLst xmlns:a="http://schemas.openxmlformats.org/drawingml/2006/main">
              <a:ext uri="{FF2B5EF4-FFF2-40B4-BE49-F238E27FC236}">
                <a16:creationId xmlns:a16="http://schemas.microsoft.com/office/drawing/2014/main" id="{9CB1874C-DF91-4067-BF25-F3C3E8DFE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054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334A"/>
                </a:solidFill>
                <a:latin typeface="NanumGothic"/>
                <a:ea typeface="NanumGothic"/>
                <a:cs typeface="NanumGothic"/>
              </a:defRPr>
            </a:pPr>
            <a:r>
              <a:rPr sz="2025" b="0">
                <a:solidFill>
                  <a:srgbClr val="17334A"/>
                </a:solidFill>
                <a:latin typeface="NanumGothic"/>
                <a:ea typeface="NanumGothic"/>
                <a:cs typeface="NanumGothic"/>
              </a:rPr>
              <a:t>기준선과 비교 실험은 재현 가능. 현장 적용 승인과 생산성 향상 실증은 미완료.</a:t>
            </a:r>
          </a:p>
        </p:txBody>
      </p:sp>
    </p:spTree>
    <p:extLst>
      <p:ext uri="{BB962C8B-B14F-4D97-AF65-F5344CB8AC3E}">
        <p14:creationId xmlns:p14="http://schemas.microsoft.com/office/powerpoint/2010/main" val="2156809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2026-09-22T07:59:06.1010000Z</dcterms:created>
  <dcterms:modified xsi:type="dcterms:W3CDTF">2026-09-22T07:59:06.1010000Z</dcterms:modified>
</coreProperties>
</file>